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eading Now 91-98" charset="1" panose="00000000000000000000"/>
      <p:regular r:id="rId18"/>
    </p:embeddedFont>
    <p:embeddedFont>
      <p:font typeface="Agrandir Wide" charset="1" panose="00000505000000000000"/>
      <p:regular r:id="rId19"/>
    </p:embeddedFont>
    <p:embeddedFont>
      <p:font typeface="Agrandir Wide Bold" charset="1" panose="00000805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32056">
            <a:off x="14275821" y="784927"/>
            <a:ext cx="2608814" cy="2608814"/>
          </a:xfrm>
          <a:custGeom>
            <a:avLst/>
            <a:gdLst/>
            <a:ahLst/>
            <a:cxnLst/>
            <a:rect r="r" b="b" t="t" l="l"/>
            <a:pathLst>
              <a:path h="2608814" w="2608814">
                <a:moveTo>
                  <a:pt x="0" y="0"/>
                </a:moveTo>
                <a:lnTo>
                  <a:pt x="2608814" y="0"/>
                </a:lnTo>
                <a:lnTo>
                  <a:pt x="2608814" y="2608815"/>
                </a:lnTo>
                <a:lnTo>
                  <a:pt x="0" y="2608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70728" y="8766474"/>
            <a:ext cx="488572" cy="488572"/>
          </a:xfrm>
          <a:custGeom>
            <a:avLst/>
            <a:gdLst/>
            <a:ahLst/>
            <a:cxnLst/>
            <a:rect r="r" b="b" t="t" l="l"/>
            <a:pathLst>
              <a:path h="488572" w="488572">
                <a:moveTo>
                  <a:pt x="0" y="0"/>
                </a:moveTo>
                <a:lnTo>
                  <a:pt x="488572" y="0"/>
                </a:lnTo>
                <a:lnTo>
                  <a:pt x="488572" y="488572"/>
                </a:lnTo>
                <a:lnTo>
                  <a:pt x="0" y="488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53729" y="7500583"/>
            <a:ext cx="5765671" cy="133141"/>
            <a:chOff x="0" y="0"/>
            <a:chExt cx="17599170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599171" cy="406400"/>
            </a:xfrm>
            <a:custGeom>
              <a:avLst/>
              <a:gdLst/>
              <a:ahLst/>
              <a:cxnLst/>
              <a:rect r="r" b="b" t="t" l="l"/>
              <a:pathLst>
                <a:path h="406400" w="17599171">
                  <a:moveTo>
                    <a:pt x="17395971" y="0"/>
                  </a:moveTo>
                  <a:cubicBezTo>
                    <a:pt x="17508195" y="0"/>
                    <a:pt x="17599171" y="90976"/>
                    <a:pt x="17599171" y="203200"/>
                  </a:cubicBezTo>
                  <a:cubicBezTo>
                    <a:pt x="17599171" y="315424"/>
                    <a:pt x="17508195" y="406400"/>
                    <a:pt x="1739597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7599170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53729" y="2089335"/>
            <a:ext cx="13537786" cy="6084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8002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SYMPHONY OF WORDS:</a:t>
            </a:r>
          </a:p>
          <a:p>
            <a:pPr algn="l">
              <a:lnSpc>
                <a:spcPts val="3458"/>
              </a:lnSpc>
            </a:pPr>
          </a:p>
          <a:p>
            <a:pPr algn="l">
              <a:lnSpc>
                <a:spcPts val="5090"/>
              </a:lnSpc>
            </a:pPr>
            <a:r>
              <a:rPr lang="en-US" sz="5302">
                <a:gradFill>
                  <a:gsLst>
                    <a:gs pos="0">
                      <a:srgbClr val="3E0F70">
                        <a:alpha val="100000"/>
                      </a:srgbClr>
                    </a:gs>
                    <a:gs pos="100000">
                      <a:srgbClr val="251C7D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POETRY GENERATION WITH</a:t>
            </a:r>
          </a:p>
          <a:p>
            <a:pPr algn="l">
              <a:lnSpc>
                <a:spcPts val="5090"/>
              </a:lnSpc>
            </a:pPr>
            <a:r>
              <a:rPr lang="en-US" sz="5302">
                <a:gradFill>
                  <a:gsLst>
                    <a:gs pos="0">
                      <a:srgbClr val="3E0F70">
                        <a:alpha val="100000"/>
                      </a:srgbClr>
                    </a:gs>
                    <a:gs pos="100000">
                      <a:srgbClr val="251C7D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MARKOV CHAINS AND CRPO</a:t>
            </a:r>
          </a:p>
          <a:p>
            <a:pPr algn="l">
              <a:lnSpc>
                <a:spcPts val="7202"/>
              </a:lnSpc>
            </a:pPr>
            <a:r>
              <a:rPr lang="en-US" sz="7502">
                <a:gradFill>
                  <a:gsLst>
                    <a:gs pos="0">
                      <a:srgbClr val="3E0F70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3729" y="7778836"/>
            <a:ext cx="7962063" cy="118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3201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İlayda Tiryaki</a:t>
            </a:r>
          </a:p>
          <a:p>
            <a:pPr algn="l">
              <a:lnSpc>
                <a:spcPts val="4450"/>
              </a:lnSpc>
            </a:pPr>
            <a:r>
              <a:rPr lang="en-US" sz="3201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Maria-Daria Tompea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79135" y="488970"/>
            <a:ext cx="5080165" cy="38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82"/>
              </a:lnSpc>
            </a:pPr>
            <a:r>
              <a:rPr lang="en-US" sz="2001" spc="284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NLP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70728" y="8766474"/>
            <a:ext cx="488572" cy="488572"/>
          </a:xfrm>
          <a:custGeom>
            <a:avLst/>
            <a:gdLst/>
            <a:ahLst/>
            <a:cxnLst/>
            <a:rect r="r" b="b" t="t" l="l"/>
            <a:pathLst>
              <a:path h="488572" w="488572">
                <a:moveTo>
                  <a:pt x="0" y="0"/>
                </a:moveTo>
                <a:lnTo>
                  <a:pt x="488572" y="0"/>
                </a:lnTo>
                <a:lnTo>
                  <a:pt x="488572" y="488572"/>
                </a:lnTo>
                <a:lnTo>
                  <a:pt x="0" y="488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8535698" cy="121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8002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AGENDA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31806" y="2566019"/>
            <a:ext cx="12294169" cy="620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0323" indent="-470161" lvl="1">
              <a:lnSpc>
                <a:spcPts val="6053"/>
              </a:lnSpc>
              <a:buAutoNum type="arabicPeriod" startAt="1"/>
            </a:pPr>
            <a:r>
              <a:rPr lang="en-US" sz="435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Problem Statement</a:t>
            </a:r>
          </a:p>
          <a:p>
            <a:pPr algn="l" marL="940323" indent="-470161" lvl="1">
              <a:lnSpc>
                <a:spcPts val="6053"/>
              </a:lnSpc>
              <a:buAutoNum type="arabicPeriod" startAt="1"/>
            </a:pPr>
            <a:r>
              <a:rPr lang="en-US" sz="435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Proposed Solutions</a:t>
            </a:r>
          </a:p>
          <a:p>
            <a:pPr algn="l" marL="1880646" indent="-626882" lvl="2">
              <a:lnSpc>
                <a:spcPts val="6053"/>
              </a:lnSpc>
              <a:buAutoNum type="alphaLcPeriod" startAt="1"/>
            </a:pPr>
            <a:r>
              <a:rPr lang="en-US" sz="435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Markov Chains</a:t>
            </a:r>
          </a:p>
          <a:p>
            <a:pPr algn="l" marL="1880646" indent="-626882" lvl="2">
              <a:lnSpc>
                <a:spcPts val="6053"/>
              </a:lnSpc>
              <a:buAutoNum type="alphaLcPeriod" startAt="1"/>
            </a:pPr>
            <a:r>
              <a:rPr lang="en-US" sz="435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Crpo</a:t>
            </a:r>
          </a:p>
          <a:p>
            <a:pPr algn="l" marL="940323" indent="-470161" lvl="1">
              <a:lnSpc>
                <a:spcPts val="6053"/>
              </a:lnSpc>
              <a:buAutoNum type="arabicPeriod" startAt="1"/>
            </a:pPr>
            <a:r>
              <a:rPr lang="en-US" sz="435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Dataset</a:t>
            </a:r>
          </a:p>
          <a:p>
            <a:pPr algn="l" marL="940323" indent="-470161" lvl="1">
              <a:lnSpc>
                <a:spcPts val="6053"/>
              </a:lnSpc>
              <a:buAutoNum type="arabicPeriod" startAt="1"/>
            </a:pPr>
            <a:r>
              <a:rPr lang="en-US" sz="435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Application</a:t>
            </a:r>
          </a:p>
          <a:p>
            <a:pPr algn="l" marL="940323" indent="-470161" lvl="1">
              <a:lnSpc>
                <a:spcPts val="6053"/>
              </a:lnSpc>
              <a:buAutoNum type="arabicPeriod" startAt="1"/>
            </a:pPr>
            <a:r>
              <a:rPr lang="en-US" sz="435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Implementation</a:t>
            </a:r>
          </a:p>
          <a:p>
            <a:pPr algn="l" marL="940323" indent="-470161" lvl="1">
              <a:lnSpc>
                <a:spcPts val="6053"/>
              </a:lnSpc>
              <a:buAutoNum type="arabicPeriod" startAt="1"/>
            </a:pPr>
            <a:r>
              <a:rPr lang="en-US" sz="435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Results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4330887">
            <a:off x="13221567" y="6741252"/>
            <a:ext cx="2608814" cy="2608814"/>
          </a:xfrm>
          <a:custGeom>
            <a:avLst/>
            <a:gdLst/>
            <a:ahLst/>
            <a:cxnLst/>
            <a:rect r="r" b="b" t="t" l="l"/>
            <a:pathLst>
              <a:path h="2608814" w="2608814">
                <a:moveTo>
                  <a:pt x="0" y="0"/>
                </a:moveTo>
                <a:lnTo>
                  <a:pt x="2608815" y="0"/>
                </a:lnTo>
                <a:lnTo>
                  <a:pt x="2608815" y="2608814"/>
                </a:lnTo>
                <a:lnTo>
                  <a:pt x="0" y="2608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30887">
            <a:off x="15750424" y="6597669"/>
            <a:ext cx="1495911" cy="1495911"/>
          </a:xfrm>
          <a:custGeom>
            <a:avLst/>
            <a:gdLst/>
            <a:ahLst/>
            <a:cxnLst/>
            <a:rect r="r" b="b" t="t" l="l"/>
            <a:pathLst>
              <a:path h="1495911" w="1495911">
                <a:moveTo>
                  <a:pt x="0" y="0"/>
                </a:moveTo>
                <a:lnTo>
                  <a:pt x="1495911" y="0"/>
                </a:lnTo>
                <a:lnTo>
                  <a:pt x="1495911" y="1495911"/>
                </a:lnTo>
                <a:lnTo>
                  <a:pt x="0" y="1495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94395" y="-1490970"/>
            <a:ext cx="4552667" cy="455266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441" y="9010760"/>
            <a:ext cx="4552667" cy="455266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70728" y="8766474"/>
            <a:ext cx="488572" cy="488572"/>
          </a:xfrm>
          <a:custGeom>
            <a:avLst/>
            <a:gdLst/>
            <a:ahLst/>
            <a:cxnLst/>
            <a:rect r="r" b="b" t="t" l="l"/>
            <a:pathLst>
              <a:path h="488572" w="488572">
                <a:moveTo>
                  <a:pt x="0" y="0"/>
                </a:moveTo>
                <a:lnTo>
                  <a:pt x="488572" y="0"/>
                </a:lnTo>
                <a:lnTo>
                  <a:pt x="488572" y="488572"/>
                </a:lnTo>
                <a:lnTo>
                  <a:pt x="0" y="488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276333" y="8010667"/>
            <a:ext cx="4552667" cy="455266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028700"/>
            <a:ext cx="16430884" cy="121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8002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76528"/>
            <a:ext cx="13496079" cy="6242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The Core Task: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 Computational synthesis of poetry under formal and stylistic constraints.</a:t>
            </a:r>
          </a:p>
          <a:p>
            <a:pPr algn="just">
              <a:lnSpc>
                <a:spcPts val="1668"/>
              </a:lnSpc>
            </a:pPr>
          </a:p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Key NLP Challenges:</a:t>
            </a:r>
          </a:p>
          <a:p>
            <a:pPr algn="just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Structural Integrity: Maintaining rhyme schemes and rhythmic patterns (meter).</a:t>
            </a:r>
          </a:p>
          <a:p>
            <a:pPr algn="just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Semantic Coherence: Ensuring the generated text conveys a unified meaning rather than random words.</a:t>
            </a:r>
          </a:p>
          <a:p>
            <a:pPr algn="just">
              <a:lnSpc>
                <a:spcPts val="1668"/>
              </a:lnSpc>
            </a:pPr>
          </a:p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The Goal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: To evaluate and implement two distinct approaches: Stochastic (Markov) and Neural (CRPO) to bridge the gap between creative freedom and algorithmic control.</a:t>
            </a:r>
          </a:p>
          <a:p>
            <a:pPr algn="just">
              <a:lnSpc>
                <a:spcPts val="417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1232056">
            <a:off x="14275821" y="6899597"/>
            <a:ext cx="2608814" cy="2608814"/>
          </a:xfrm>
          <a:custGeom>
            <a:avLst/>
            <a:gdLst/>
            <a:ahLst/>
            <a:cxnLst/>
            <a:rect r="r" b="b" t="t" l="l"/>
            <a:pathLst>
              <a:path h="2608814" w="2608814">
                <a:moveTo>
                  <a:pt x="0" y="0"/>
                </a:moveTo>
                <a:lnTo>
                  <a:pt x="2608814" y="0"/>
                </a:lnTo>
                <a:lnTo>
                  <a:pt x="2608814" y="2608814"/>
                </a:lnTo>
                <a:lnTo>
                  <a:pt x="0" y="2608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232056">
            <a:off x="16213220" y="6192414"/>
            <a:ext cx="904608" cy="904608"/>
          </a:xfrm>
          <a:custGeom>
            <a:avLst/>
            <a:gdLst/>
            <a:ahLst/>
            <a:cxnLst/>
            <a:rect r="r" b="b" t="t" l="l"/>
            <a:pathLst>
              <a:path h="904608" w="904608">
                <a:moveTo>
                  <a:pt x="0" y="0"/>
                </a:moveTo>
                <a:lnTo>
                  <a:pt x="904608" y="0"/>
                </a:lnTo>
                <a:lnTo>
                  <a:pt x="904608" y="904607"/>
                </a:lnTo>
                <a:lnTo>
                  <a:pt x="0" y="904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70728" y="8766474"/>
            <a:ext cx="488572" cy="488572"/>
          </a:xfrm>
          <a:custGeom>
            <a:avLst/>
            <a:gdLst/>
            <a:ahLst/>
            <a:cxnLst/>
            <a:rect r="r" b="b" t="t" l="l"/>
            <a:pathLst>
              <a:path h="488572" w="488572">
                <a:moveTo>
                  <a:pt x="0" y="0"/>
                </a:moveTo>
                <a:lnTo>
                  <a:pt x="488572" y="0"/>
                </a:lnTo>
                <a:lnTo>
                  <a:pt x="488572" y="488572"/>
                </a:lnTo>
                <a:lnTo>
                  <a:pt x="0" y="488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00559"/>
            <a:ext cx="11230832" cy="133141"/>
            <a:chOff x="0" y="0"/>
            <a:chExt cx="7803415" cy="92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3415" cy="92509"/>
            </a:xfrm>
            <a:custGeom>
              <a:avLst/>
              <a:gdLst/>
              <a:ahLst/>
              <a:cxnLst/>
              <a:rect r="r" b="b" t="t" l="l"/>
              <a:pathLst>
                <a:path h="92509" w="7803415">
                  <a:moveTo>
                    <a:pt x="7600215" y="0"/>
                  </a:moveTo>
                  <a:cubicBezTo>
                    <a:pt x="7712439" y="0"/>
                    <a:pt x="7803415" y="20709"/>
                    <a:pt x="7803415" y="46255"/>
                  </a:cubicBezTo>
                  <a:cubicBezTo>
                    <a:pt x="7803415" y="71800"/>
                    <a:pt x="7712439" y="92509"/>
                    <a:pt x="7600215" y="92509"/>
                  </a:cubicBezTo>
                  <a:lnTo>
                    <a:pt x="203200" y="92509"/>
                  </a:lnTo>
                  <a:cubicBezTo>
                    <a:pt x="90976" y="92509"/>
                    <a:pt x="0" y="71800"/>
                    <a:pt x="0" y="46255"/>
                  </a:cubicBezTo>
                  <a:cubicBezTo>
                    <a:pt x="0" y="20709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7803415" cy="178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89282" y="1028700"/>
            <a:ext cx="13495335" cy="928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8"/>
              </a:lnSpc>
            </a:pPr>
            <a:r>
              <a:rPr lang="en-US" sz="6102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Markov Chains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9282" y="2495650"/>
            <a:ext cx="7212849" cy="634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Model Architecture: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Implementat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ion of a 2nd-Order Markov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 Chain.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State space defined by word pairs (Word-1, Word-2) to maintain local syntax.</a:t>
            </a:r>
          </a:p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</a:t>
            </a: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raining &amp; Probability: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Corpus: Tr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ained on poetic datasets (e.g., Dylan corpus).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Method: N-gram Relative Frequency for transition estimation.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231024" y="8491510"/>
            <a:ext cx="4552667" cy="455266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586460" y="2495650"/>
            <a:ext cx="7428555" cy="687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Algorithmic Constraints: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Rhyme Constr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aint: Unary constraint filtering via manual rhyme checking.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Semantic Injection: Forced 'Seed W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ord' integration to guide thematic output.</a:t>
            </a:r>
          </a:p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Po</a:t>
            </a: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etic Structure: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Aut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omated AABA and AABB rhym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e scheme generation.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Dynamic lin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e count control (Couplets vs. Quatrains).</a:t>
            </a:r>
          </a:p>
          <a:p>
            <a:pPr algn="l">
              <a:lnSpc>
                <a:spcPts val="417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8338" y="2619475"/>
            <a:ext cx="930362" cy="5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5"/>
              </a:lnSpc>
            </a:pPr>
            <a:r>
              <a:rPr lang="en-US" sz="3359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29114" y="2619475"/>
            <a:ext cx="930362" cy="5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5"/>
              </a:lnSpc>
            </a:pPr>
            <a:r>
              <a:rPr lang="en-US" sz="3359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338" y="5705473"/>
            <a:ext cx="930362" cy="5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5"/>
              </a:lnSpc>
            </a:pPr>
            <a:r>
              <a:rPr lang="en-US" sz="3359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29114" y="6215759"/>
            <a:ext cx="930362" cy="5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5"/>
              </a:lnSpc>
            </a:pPr>
            <a:r>
              <a:rPr lang="en-US" sz="3359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20114" y="371830"/>
            <a:ext cx="5080165" cy="38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82"/>
              </a:lnSpc>
            </a:pPr>
            <a:r>
              <a:rPr lang="en-US" sz="2001" spc="284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Maria-Daria Tompea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6500764" y="5736055"/>
            <a:ext cx="1999031" cy="199903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70728" y="8766474"/>
            <a:ext cx="488572" cy="488572"/>
          </a:xfrm>
          <a:custGeom>
            <a:avLst/>
            <a:gdLst/>
            <a:ahLst/>
            <a:cxnLst/>
            <a:rect r="r" b="b" t="t" l="l"/>
            <a:pathLst>
              <a:path h="488572" w="488572">
                <a:moveTo>
                  <a:pt x="0" y="0"/>
                </a:moveTo>
                <a:lnTo>
                  <a:pt x="488572" y="0"/>
                </a:lnTo>
                <a:lnTo>
                  <a:pt x="488572" y="488572"/>
                </a:lnTo>
                <a:lnTo>
                  <a:pt x="0" y="488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9282" y="2862541"/>
            <a:ext cx="11230832" cy="133141"/>
            <a:chOff x="0" y="0"/>
            <a:chExt cx="7803415" cy="92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3415" cy="92509"/>
            </a:xfrm>
            <a:custGeom>
              <a:avLst/>
              <a:gdLst/>
              <a:ahLst/>
              <a:cxnLst/>
              <a:rect r="r" b="b" t="t" l="l"/>
              <a:pathLst>
                <a:path h="92509" w="7803415">
                  <a:moveTo>
                    <a:pt x="7600215" y="0"/>
                  </a:moveTo>
                  <a:cubicBezTo>
                    <a:pt x="7712439" y="0"/>
                    <a:pt x="7803415" y="20709"/>
                    <a:pt x="7803415" y="46255"/>
                  </a:cubicBezTo>
                  <a:cubicBezTo>
                    <a:pt x="7803415" y="71800"/>
                    <a:pt x="7712439" y="92509"/>
                    <a:pt x="7600215" y="92509"/>
                  </a:cubicBezTo>
                  <a:lnTo>
                    <a:pt x="203200" y="92509"/>
                  </a:lnTo>
                  <a:cubicBezTo>
                    <a:pt x="90976" y="92509"/>
                    <a:pt x="0" y="71800"/>
                    <a:pt x="0" y="46255"/>
                  </a:cubicBezTo>
                  <a:cubicBezTo>
                    <a:pt x="0" y="20709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7803415" cy="178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89282" y="1028700"/>
            <a:ext cx="13495335" cy="167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8"/>
              </a:lnSpc>
            </a:pPr>
            <a:r>
              <a:rPr lang="en-US" sz="6102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Neural Language Modeling (CRPO)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9282" y="4067275"/>
            <a:ext cx="6285458" cy="425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Deep Learning Architecture: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Hybrid Neura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l Network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Layer Composition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Attention Mechanism</a:t>
            </a:r>
          </a:p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Interactive Control: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Semantic Steering</a:t>
            </a:r>
          </a:p>
          <a:p>
            <a:pPr algn="l">
              <a:lnSpc>
                <a:spcPts val="4170"/>
              </a:lnSpc>
            </a:pPr>
          </a:p>
          <a:p>
            <a:pPr algn="l">
              <a:lnSpc>
                <a:spcPts val="417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2179135" y="8319235"/>
            <a:ext cx="4552667" cy="455266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057626" y="4067275"/>
            <a:ext cx="8201674" cy="3728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Generation Strategy: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Sampling with Temperature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Context Window</a:t>
            </a:r>
          </a:p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Neural-Rule Integration: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Phon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etic Injection</a:t>
            </a:r>
          </a:p>
          <a:p>
            <a:pPr algn="l" marL="647702" indent="-323851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Heuristic Cleaning</a:t>
            </a:r>
          </a:p>
          <a:p>
            <a:pPr algn="l">
              <a:lnSpc>
                <a:spcPts val="417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8338" y="4191100"/>
            <a:ext cx="930362" cy="5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5"/>
              </a:lnSpc>
            </a:pPr>
            <a:r>
              <a:rPr lang="en-US" sz="3359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36949" y="4191100"/>
            <a:ext cx="930362" cy="5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5"/>
              </a:lnSpc>
            </a:pPr>
            <a:r>
              <a:rPr lang="en-US" sz="3359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338" y="6250405"/>
            <a:ext cx="930362" cy="5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5"/>
              </a:lnSpc>
            </a:pPr>
            <a:r>
              <a:rPr lang="en-US" sz="3359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36949" y="5733324"/>
            <a:ext cx="930362" cy="5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5"/>
              </a:lnSpc>
            </a:pPr>
            <a:r>
              <a:rPr lang="en-US" sz="3359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20114" y="371830"/>
            <a:ext cx="5080165" cy="38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82"/>
              </a:lnSpc>
            </a:pPr>
            <a:r>
              <a:rPr lang="en-US" sz="2001" spc="284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İlayda Tiryaki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5260269" y="6253135"/>
            <a:ext cx="1999031" cy="199903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70728" y="8766474"/>
            <a:ext cx="488572" cy="488572"/>
          </a:xfrm>
          <a:custGeom>
            <a:avLst/>
            <a:gdLst/>
            <a:ahLst/>
            <a:cxnLst/>
            <a:rect r="r" b="b" t="t" l="l"/>
            <a:pathLst>
              <a:path h="488572" w="488572">
                <a:moveTo>
                  <a:pt x="0" y="0"/>
                </a:moveTo>
                <a:lnTo>
                  <a:pt x="488572" y="0"/>
                </a:lnTo>
                <a:lnTo>
                  <a:pt x="488572" y="488572"/>
                </a:lnTo>
                <a:lnTo>
                  <a:pt x="0" y="488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9282" y="2862541"/>
            <a:ext cx="11230832" cy="133141"/>
            <a:chOff x="0" y="0"/>
            <a:chExt cx="7803415" cy="92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3415" cy="92509"/>
            </a:xfrm>
            <a:custGeom>
              <a:avLst/>
              <a:gdLst/>
              <a:ahLst/>
              <a:cxnLst/>
              <a:rect r="r" b="b" t="t" l="l"/>
              <a:pathLst>
                <a:path h="92509" w="7803415">
                  <a:moveTo>
                    <a:pt x="7600215" y="0"/>
                  </a:moveTo>
                  <a:cubicBezTo>
                    <a:pt x="7712439" y="0"/>
                    <a:pt x="7803415" y="20709"/>
                    <a:pt x="7803415" y="46255"/>
                  </a:cubicBezTo>
                  <a:cubicBezTo>
                    <a:pt x="7803415" y="71800"/>
                    <a:pt x="7712439" y="92509"/>
                    <a:pt x="7600215" y="92509"/>
                  </a:cubicBezTo>
                  <a:lnTo>
                    <a:pt x="203200" y="92509"/>
                  </a:lnTo>
                  <a:cubicBezTo>
                    <a:pt x="90976" y="92509"/>
                    <a:pt x="0" y="71800"/>
                    <a:pt x="0" y="46255"/>
                  </a:cubicBezTo>
                  <a:cubicBezTo>
                    <a:pt x="0" y="20709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7803415" cy="178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89282" y="1028700"/>
            <a:ext cx="13495335" cy="167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8"/>
              </a:lnSpc>
            </a:pPr>
            <a:r>
              <a:rPr lang="en-US" sz="6102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Data Set: Gutenberg Poetry Corpus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9282" y="3164548"/>
            <a:ext cx="16101715" cy="529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Scale: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 ~3,000,000 lines of poetic text.</a:t>
            </a:r>
          </a:p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Scope: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 Large-scale collection of public domain English poetry.</a:t>
            </a:r>
          </a:p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Data Diversity: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 Includes various historica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l periods, styles, and authors.</a:t>
            </a:r>
          </a:p>
          <a:p>
            <a:pPr algn="l">
              <a:lnSpc>
                <a:spcPts val="4170"/>
              </a:lnSpc>
            </a:pPr>
          </a:p>
          <a:p>
            <a:pPr algn="l">
              <a:lnSpc>
                <a:spcPts val="4170"/>
              </a:lnSpc>
            </a:pPr>
            <a:r>
              <a:rPr lang="en-US" b="true" sz="3000">
                <a:gradFill>
                  <a:gsLst>
                    <a:gs pos="0">
                      <a:srgbClr val="3E0F70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Agrandir Wide Bold"/>
                <a:ea typeface="Agrandir Wide Bold"/>
                <a:cs typeface="Agrandir Wide Bold"/>
                <a:sym typeface="Agrandir Wide Bold"/>
              </a:rPr>
              <a:t>Processing Pipeline:</a:t>
            </a:r>
          </a:p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Selection: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 20,000 high-qu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ality lines for optimized training.</a:t>
            </a:r>
          </a:p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Refinem</a:t>
            </a: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ent: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 Removal of metadata, headers, and archaic symbols.</a:t>
            </a:r>
          </a:p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Toke</a:t>
            </a: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nization: 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Character-level mapping for Bi-LSTM and word-level for Markov.</a:t>
            </a:r>
          </a:p>
          <a:p>
            <a:pPr algn="l">
              <a:lnSpc>
                <a:spcPts val="4170"/>
              </a:lnSpc>
            </a:pP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Linguistic Features: High lexical richness and diverse rhythmic patterns.</a:t>
            </a:r>
          </a:p>
          <a:p>
            <a:pPr algn="l">
              <a:lnSpc>
                <a:spcPts val="417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131950" y="8626183"/>
            <a:ext cx="4552667" cy="455266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420114" y="371830"/>
            <a:ext cx="5080165" cy="38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82"/>
              </a:lnSpc>
            </a:pPr>
            <a:r>
              <a:rPr lang="en-US" sz="2001" spc="284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İlayda Tiryaki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043198" y="4355480"/>
            <a:ext cx="1999031" cy="199903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70728" y="8766474"/>
            <a:ext cx="488572" cy="488572"/>
          </a:xfrm>
          <a:custGeom>
            <a:avLst/>
            <a:gdLst/>
            <a:ahLst/>
            <a:cxnLst/>
            <a:rect r="r" b="b" t="t" l="l"/>
            <a:pathLst>
              <a:path h="488572" w="488572">
                <a:moveTo>
                  <a:pt x="0" y="0"/>
                </a:moveTo>
                <a:lnTo>
                  <a:pt x="488572" y="0"/>
                </a:lnTo>
                <a:lnTo>
                  <a:pt x="488572" y="488572"/>
                </a:lnTo>
                <a:lnTo>
                  <a:pt x="0" y="488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276333" y="8010667"/>
            <a:ext cx="4552667" cy="455266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232056">
            <a:off x="15466321" y="8982593"/>
            <a:ext cx="2608814" cy="2608814"/>
          </a:xfrm>
          <a:custGeom>
            <a:avLst/>
            <a:gdLst/>
            <a:ahLst/>
            <a:cxnLst/>
            <a:rect r="r" b="b" t="t" l="l"/>
            <a:pathLst>
              <a:path h="2608814" w="2608814">
                <a:moveTo>
                  <a:pt x="0" y="0"/>
                </a:moveTo>
                <a:lnTo>
                  <a:pt x="2608814" y="0"/>
                </a:lnTo>
                <a:lnTo>
                  <a:pt x="2608814" y="2608814"/>
                </a:lnTo>
                <a:lnTo>
                  <a:pt x="0" y="2608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232056">
            <a:off x="16900644" y="7976237"/>
            <a:ext cx="904608" cy="904608"/>
          </a:xfrm>
          <a:custGeom>
            <a:avLst/>
            <a:gdLst/>
            <a:ahLst/>
            <a:cxnLst/>
            <a:rect r="r" b="b" t="t" l="l"/>
            <a:pathLst>
              <a:path h="904608" w="904608">
                <a:moveTo>
                  <a:pt x="0" y="0"/>
                </a:moveTo>
                <a:lnTo>
                  <a:pt x="904607" y="0"/>
                </a:lnTo>
                <a:lnTo>
                  <a:pt x="904607" y="904608"/>
                </a:lnTo>
                <a:lnTo>
                  <a:pt x="0" y="904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29993" y="1956295"/>
            <a:ext cx="13925066" cy="7606567"/>
          </a:xfrm>
          <a:custGeom>
            <a:avLst/>
            <a:gdLst/>
            <a:ahLst/>
            <a:cxnLst/>
            <a:rect r="r" b="b" t="t" l="l"/>
            <a:pathLst>
              <a:path h="7606567" w="13925066">
                <a:moveTo>
                  <a:pt x="0" y="0"/>
                </a:moveTo>
                <a:lnTo>
                  <a:pt x="13925066" y="0"/>
                </a:lnTo>
                <a:lnTo>
                  <a:pt x="13925066" y="7606567"/>
                </a:lnTo>
                <a:lnTo>
                  <a:pt x="0" y="760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20963"/>
            <a:ext cx="16430884" cy="121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8002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Application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70728" y="8766474"/>
            <a:ext cx="488572" cy="488572"/>
          </a:xfrm>
          <a:custGeom>
            <a:avLst/>
            <a:gdLst/>
            <a:ahLst/>
            <a:cxnLst/>
            <a:rect r="r" b="b" t="t" l="l"/>
            <a:pathLst>
              <a:path h="488572" w="488572">
                <a:moveTo>
                  <a:pt x="0" y="0"/>
                </a:moveTo>
                <a:lnTo>
                  <a:pt x="488572" y="0"/>
                </a:lnTo>
                <a:lnTo>
                  <a:pt x="488572" y="488572"/>
                </a:lnTo>
                <a:lnTo>
                  <a:pt x="0" y="488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1143254" y="3230028"/>
            <a:ext cx="4667276" cy="8665783"/>
            <a:chOff x="0" y="0"/>
            <a:chExt cx="723083" cy="1342557"/>
          </a:xfrm>
        </p:grpSpPr>
        <p:sp>
          <p:nvSpPr>
            <p:cNvPr name="Freeform 4" id="4"/>
            <p:cNvSpPr/>
            <p:nvPr/>
          </p:nvSpPr>
          <p:spPr>
            <a:xfrm flipH="false" flipV="false" rot="5400000">
              <a:off x="-309737" y="309737"/>
              <a:ext cx="1342557" cy="723083"/>
            </a:xfrm>
            <a:custGeom>
              <a:avLst/>
              <a:gdLst/>
              <a:ahLst/>
              <a:cxnLst/>
              <a:rect r="r" b="b" t="t" l="l"/>
              <a:pathLst>
                <a:path h="723083" w="1342557">
                  <a:moveTo>
                    <a:pt x="0" y="684931"/>
                  </a:moveTo>
                  <a:lnTo>
                    <a:pt x="0" y="38151"/>
                  </a:lnTo>
                  <a:cubicBezTo>
                    <a:pt x="0" y="28033"/>
                    <a:pt x="4020" y="18329"/>
                    <a:pt x="11175" y="11174"/>
                  </a:cubicBezTo>
                  <a:cubicBezTo>
                    <a:pt x="18329" y="4019"/>
                    <a:pt x="28033" y="0"/>
                    <a:pt x="38152" y="0"/>
                  </a:cubicBezTo>
                  <a:lnTo>
                    <a:pt x="1304405" y="0"/>
                  </a:lnTo>
                  <a:cubicBezTo>
                    <a:pt x="1314524" y="0"/>
                    <a:pt x="1324228" y="4019"/>
                    <a:pt x="1331383" y="11174"/>
                  </a:cubicBezTo>
                  <a:cubicBezTo>
                    <a:pt x="1338537" y="18329"/>
                    <a:pt x="1342557" y="28033"/>
                    <a:pt x="1342557" y="38151"/>
                  </a:cubicBezTo>
                  <a:lnTo>
                    <a:pt x="1342557" y="684931"/>
                  </a:lnTo>
                  <a:cubicBezTo>
                    <a:pt x="1342557" y="695050"/>
                    <a:pt x="1338537" y="704754"/>
                    <a:pt x="1331383" y="711909"/>
                  </a:cubicBezTo>
                  <a:cubicBezTo>
                    <a:pt x="1324228" y="719063"/>
                    <a:pt x="1314524" y="723083"/>
                    <a:pt x="1304405" y="723083"/>
                  </a:cubicBezTo>
                  <a:lnTo>
                    <a:pt x="38152" y="723083"/>
                  </a:lnTo>
                  <a:cubicBezTo>
                    <a:pt x="28033" y="723083"/>
                    <a:pt x="18329" y="719063"/>
                    <a:pt x="11175" y="711909"/>
                  </a:cubicBezTo>
                  <a:cubicBezTo>
                    <a:pt x="4020" y="704754"/>
                    <a:pt x="0" y="695050"/>
                    <a:pt x="0" y="684931"/>
                  </a:cubicBezTo>
                  <a:close/>
                </a:path>
              </a:pathLst>
            </a:custGeom>
            <a:blipFill>
              <a:blip r:embed="rId4"/>
              <a:stretch>
                <a:fillRect l="-15700" t="-13918" r="-18408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5400000">
            <a:off x="11143254" y="-1608812"/>
            <a:ext cx="4667276" cy="8665783"/>
            <a:chOff x="0" y="0"/>
            <a:chExt cx="723083" cy="1342557"/>
          </a:xfrm>
        </p:grpSpPr>
        <p:sp>
          <p:nvSpPr>
            <p:cNvPr name="Freeform 6" id="6"/>
            <p:cNvSpPr/>
            <p:nvPr/>
          </p:nvSpPr>
          <p:spPr>
            <a:xfrm flipH="false" flipV="false" rot="5400000">
              <a:off x="-309737" y="309737"/>
              <a:ext cx="1342557" cy="723083"/>
            </a:xfrm>
            <a:custGeom>
              <a:avLst/>
              <a:gdLst/>
              <a:ahLst/>
              <a:cxnLst/>
              <a:rect r="r" b="b" t="t" l="l"/>
              <a:pathLst>
                <a:path h="723083" w="1342557">
                  <a:moveTo>
                    <a:pt x="0" y="684931"/>
                  </a:moveTo>
                  <a:lnTo>
                    <a:pt x="0" y="38151"/>
                  </a:lnTo>
                  <a:cubicBezTo>
                    <a:pt x="0" y="28033"/>
                    <a:pt x="4020" y="18329"/>
                    <a:pt x="11175" y="11174"/>
                  </a:cubicBezTo>
                  <a:cubicBezTo>
                    <a:pt x="18329" y="4019"/>
                    <a:pt x="28033" y="0"/>
                    <a:pt x="38152" y="0"/>
                  </a:cubicBezTo>
                  <a:lnTo>
                    <a:pt x="1304405" y="0"/>
                  </a:lnTo>
                  <a:cubicBezTo>
                    <a:pt x="1314524" y="0"/>
                    <a:pt x="1324228" y="4019"/>
                    <a:pt x="1331383" y="11174"/>
                  </a:cubicBezTo>
                  <a:cubicBezTo>
                    <a:pt x="1338537" y="18329"/>
                    <a:pt x="1342557" y="28033"/>
                    <a:pt x="1342557" y="38151"/>
                  </a:cubicBezTo>
                  <a:lnTo>
                    <a:pt x="1342557" y="684931"/>
                  </a:lnTo>
                  <a:cubicBezTo>
                    <a:pt x="1342557" y="695050"/>
                    <a:pt x="1338537" y="704754"/>
                    <a:pt x="1331383" y="711909"/>
                  </a:cubicBezTo>
                  <a:cubicBezTo>
                    <a:pt x="1324228" y="719063"/>
                    <a:pt x="1314524" y="723083"/>
                    <a:pt x="1304405" y="723083"/>
                  </a:cubicBezTo>
                  <a:lnTo>
                    <a:pt x="38152" y="723083"/>
                  </a:lnTo>
                  <a:cubicBezTo>
                    <a:pt x="28033" y="723083"/>
                    <a:pt x="18329" y="719063"/>
                    <a:pt x="11175" y="711909"/>
                  </a:cubicBezTo>
                  <a:cubicBezTo>
                    <a:pt x="4020" y="704754"/>
                    <a:pt x="0" y="695050"/>
                    <a:pt x="0" y="684931"/>
                  </a:cubicBezTo>
                  <a:close/>
                </a:path>
              </a:pathLst>
            </a:custGeom>
            <a:blipFill>
              <a:blip r:embed="rId5"/>
              <a:stretch>
                <a:fillRect l="0" t="-3612" r="0" b="-361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5400000">
            <a:off x="2305906" y="3230028"/>
            <a:ext cx="4667276" cy="8665783"/>
            <a:chOff x="0" y="0"/>
            <a:chExt cx="723083" cy="1342557"/>
          </a:xfrm>
        </p:grpSpPr>
        <p:sp>
          <p:nvSpPr>
            <p:cNvPr name="Freeform 8" id="8"/>
            <p:cNvSpPr/>
            <p:nvPr/>
          </p:nvSpPr>
          <p:spPr>
            <a:xfrm flipH="false" flipV="false" rot="5400000">
              <a:off x="-309737" y="309737"/>
              <a:ext cx="1342557" cy="723083"/>
            </a:xfrm>
            <a:custGeom>
              <a:avLst/>
              <a:gdLst/>
              <a:ahLst/>
              <a:cxnLst/>
              <a:rect r="r" b="b" t="t" l="l"/>
              <a:pathLst>
                <a:path h="723083" w="1342557">
                  <a:moveTo>
                    <a:pt x="0" y="684931"/>
                  </a:moveTo>
                  <a:lnTo>
                    <a:pt x="0" y="38151"/>
                  </a:lnTo>
                  <a:cubicBezTo>
                    <a:pt x="0" y="28033"/>
                    <a:pt x="4020" y="18329"/>
                    <a:pt x="11175" y="11174"/>
                  </a:cubicBezTo>
                  <a:cubicBezTo>
                    <a:pt x="18329" y="4019"/>
                    <a:pt x="28033" y="0"/>
                    <a:pt x="38152" y="0"/>
                  </a:cubicBezTo>
                  <a:lnTo>
                    <a:pt x="1304405" y="0"/>
                  </a:lnTo>
                  <a:cubicBezTo>
                    <a:pt x="1314524" y="0"/>
                    <a:pt x="1324228" y="4019"/>
                    <a:pt x="1331383" y="11174"/>
                  </a:cubicBezTo>
                  <a:cubicBezTo>
                    <a:pt x="1338537" y="18329"/>
                    <a:pt x="1342557" y="28033"/>
                    <a:pt x="1342557" y="38151"/>
                  </a:cubicBezTo>
                  <a:lnTo>
                    <a:pt x="1342557" y="684931"/>
                  </a:lnTo>
                  <a:cubicBezTo>
                    <a:pt x="1342557" y="695050"/>
                    <a:pt x="1338537" y="704754"/>
                    <a:pt x="1331383" y="711909"/>
                  </a:cubicBezTo>
                  <a:cubicBezTo>
                    <a:pt x="1324228" y="719063"/>
                    <a:pt x="1314524" y="723083"/>
                    <a:pt x="1304405" y="723083"/>
                  </a:cubicBezTo>
                  <a:lnTo>
                    <a:pt x="38152" y="723083"/>
                  </a:lnTo>
                  <a:cubicBezTo>
                    <a:pt x="28033" y="723083"/>
                    <a:pt x="18329" y="719063"/>
                    <a:pt x="11175" y="711909"/>
                  </a:cubicBezTo>
                  <a:cubicBezTo>
                    <a:pt x="4020" y="704754"/>
                    <a:pt x="0" y="695050"/>
                    <a:pt x="0" y="684931"/>
                  </a:cubicBezTo>
                  <a:close/>
                </a:path>
              </a:pathLst>
            </a:custGeom>
            <a:blipFill>
              <a:blip r:embed="rId6"/>
              <a:stretch>
                <a:fillRect l="0" t="-9994" r="0" b="-999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-5400000">
            <a:off x="2305906" y="-1608812"/>
            <a:ext cx="4667276" cy="8665783"/>
            <a:chOff x="0" y="0"/>
            <a:chExt cx="723083" cy="1342557"/>
          </a:xfrm>
        </p:grpSpPr>
        <p:sp>
          <p:nvSpPr>
            <p:cNvPr name="Freeform 10" id="10"/>
            <p:cNvSpPr/>
            <p:nvPr/>
          </p:nvSpPr>
          <p:spPr>
            <a:xfrm flipH="false" flipV="false" rot="5400000">
              <a:off x="-309737" y="309737"/>
              <a:ext cx="1342557" cy="723083"/>
            </a:xfrm>
            <a:custGeom>
              <a:avLst/>
              <a:gdLst/>
              <a:ahLst/>
              <a:cxnLst/>
              <a:rect r="r" b="b" t="t" l="l"/>
              <a:pathLst>
                <a:path h="723083" w="1342557">
                  <a:moveTo>
                    <a:pt x="0" y="684931"/>
                  </a:moveTo>
                  <a:lnTo>
                    <a:pt x="0" y="38151"/>
                  </a:lnTo>
                  <a:cubicBezTo>
                    <a:pt x="0" y="28033"/>
                    <a:pt x="4020" y="18329"/>
                    <a:pt x="11175" y="11174"/>
                  </a:cubicBezTo>
                  <a:cubicBezTo>
                    <a:pt x="18329" y="4019"/>
                    <a:pt x="28033" y="0"/>
                    <a:pt x="38152" y="0"/>
                  </a:cubicBezTo>
                  <a:lnTo>
                    <a:pt x="1304405" y="0"/>
                  </a:lnTo>
                  <a:cubicBezTo>
                    <a:pt x="1314524" y="0"/>
                    <a:pt x="1324228" y="4019"/>
                    <a:pt x="1331383" y="11174"/>
                  </a:cubicBezTo>
                  <a:cubicBezTo>
                    <a:pt x="1338537" y="18329"/>
                    <a:pt x="1342557" y="28033"/>
                    <a:pt x="1342557" y="38151"/>
                  </a:cubicBezTo>
                  <a:lnTo>
                    <a:pt x="1342557" y="684931"/>
                  </a:lnTo>
                  <a:cubicBezTo>
                    <a:pt x="1342557" y="695050"/>
                    <a:pt x="1338537" y="704754"/>
                    <a:pt x="1331383" y="711909"/>
                  </a:cubicBezTo>
                  <a:cubicBezTo>
                    <a:pt x="1324228" y="719063"/>
                    <a:pt x="1314524" y="723083"/>
                    <a:pt x="1304405" y="723083"/>
                  </a:cubicBezTo>
                  <a:lnTo>
                    <a:pt x="38152" y="723083"/>
                  </a:lnTo>
                  <a:cubicBezTo>
                    <a:pt x="28033" y="723083"/>
                    <a:pt x="18329" y="719063"/>
                    <a:pt x="11175" y="711909"/>
                  </a:cubicBezTo>
                  <a:cubicBezTo>
                    <a:pt x="4020" y="704754"/>
                    <a:pt x="0" y="695050"/>
                    <a:pt x="0" y="684931"/>
                  </a:cubicBezTo>
                  <a:close/>
                </a:path>
              </a:pathLst>
            </a:custGeom>
            <a:blipFill>
              <a:blip r:embed="rId7"/>
              <a:stretch>
                <a:fillRect l="0" t="-3264" r="0" b="-3264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-158528" y="508889"/>
            <a:ext cx="930362" cy="5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5"/>
              </a:lnSpc>
            </a:pPr>
            <a:r>
              <a:rPr lang="en-US" sz="3359">
                <a:gradFill>
                  <a:gsLst>
                    <a:gs pos="0">
                      <a:srgbClr val="E7DCF1">
                        <a:alpha val="100000"/>
                      </a:srgbClr>
                    </a:gs>
                    <a:gs pos="100000">
                      <a:srgbClr val="E1DFF8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158528" y="5385213"/>
            <a:ext cx="930362" cy="5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5"/>
              </a:lnSpc>
            </a:pPr>
            <a:r>
              <a:rPr lang="en-US" sz="3359">
                <a:gradFill>
                  <a:gsLst>
                    <a:gs pos="0">
                      <a:srgbClr val="E7DCF1">
                        <a:alpha val="100000"/>
                      </a:srgbClr>
                    </a:gs>
                    <a:gs pos="100000">
                      <a:srgbClr val="E1DFF8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78819" y="764032"/>
            <a:ext cx="930362" cy="5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5"/>
              </a:lnSpc>
            </a:pPr>
            <a:r>
              <a:rPr lang="en-US" sz="3359">
                <a:gradFill>
                  <a:gsLst>
                    <a:gs pos="0">
                      <a:srgbClr val="E7DCF1">
                        <a:alpha val="100000"/>
                      </a:srgbClr>
                    </a:gs>
                    <a:gs pos="100000">
                      <a:srgbClr val="E1DFF8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78819" y="5385213"/>
            <a:ext cx="930362" cy="5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5"/>
              </a:lnSpc>
            </a:pPr>
            <a:r>
              <a:rPr lang="en-US" sz="3359">
                <a:gradFill>
                  <a:gsLst>
                    <a:gs pos="0">
                      <a:srgbClr val="E7DCF1">
                        <a:alpha val="100000"/>
                      </a:srgbClr>
                    </a:gs>
                    <a:gs pos="100000">
                      <a:srgbClr val="E1DFF8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70728" y="8766474"/>
            <a:ext cx="488572" cy="488572"/>
          </a:xfrm>
          <a:custGeom>
            <a:avLst/>
            <a:gdLst/>
            <a:ahLst/>
            <a:cxnLst/>
            <a:rect r="r" b="b" t="t" l="l"/>
            <a:pathLst>
              <a:path h="488572" w="488572">
                <a:moveTo>
                  <a:pt x="0" y="0"/>
                </a:moveTo>
                <a:lnTo>
                  <a:pt x="488572" y="0"/>
                </a:lnTo>
                <a:lnTo>
                  <a:pt x="488572" y="488572"/>
                </a:lnTo>
                <a:lnTo>
                  <a:pt x="0" y="488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493183"/>
            <a:ext cx="11230832" cy="133141"/>
            <a:chOff x="0" y="0"/>
            <a:chExt cx="7803415" cy="92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3415" cy="92509"/>
            </a:xfrm>
            <a:custGeom>
              <a:avLst/>
              <a:gdLst/>
              <a:ahLst/>
              <a:cxnLst/>
              <a:rect r="r" b="b" t="t" l="l"/>
              <a:pathLst>
                <a:path h="92509" w="7803415">
                  <a:moveTo>
                    <a:pt x="7600215" y="0"/>
                  </a:moveTo>
                  <a:cubicBezTo>
                    <a:pt x="7712439" y="0"/>
                    <a:pt x="7803415" y="20709"/>
                    <a:pt x="7803415" y="46255"/>
                  </a:cubicBezTo>
                  <a:cubicBezTo>
                    <a:pt x="7803415" y="71800"/>
                    <a:pt x="7712439" y="92509"/>
                    <a:pt x="7600215" y="92509"/>
                  </a:cubicBezTo>
                  <a:lnTo>
                    <a:pt x="203200" y="92509"/>
                  </a:lnTo>
                  <a:cubicBezTo>
                    <a:pt x="90976" y="92509"/>
                    <a:pt x="0" y="71800"/>
                    <a:pt x="0" y="46255"/>
                  </a:cubicBezTo>
                  <a:cubicBezTo>
                    <a:pt x="0" y="20709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7803415" cy="178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956585" y="2120375"/>
            <a:ext cx="6605895" cy="588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5"/>
              </a:lnSpc>
            </a:pPr>
            <a:r>
              <a:rPr lang="en-US" sz="3291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Language:</a:t>
            </a:r>
            <a:r>
              <a:rPr lang="en-US" sz="3291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 Python 3.x</a:t>
            </a:r>
          </a:p>
          <a:p>
            <a:pPr algn="l">
              <a:lnSpc>
                <a:spcPts val="4575"/>
              </a:lnSpc>
            </a:pPr>
            <a:r>
              <a:rPr lang="en-US" sz="3291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Back</a:t>
            </a:r>
            <a:r>
              <a:rPr lang="en-US" sz="3291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end: </a:t>
            </a:r>
            <a:r>
              <a:rPr lang="en-US" sz="3291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Flask Web Framework</a:t>
            </a:r>
          </a:p>
          <a:p>
            <a:pPr algn="l">
              <a:lnSpc>
                <a:spcPts val="4575"/>
              </a:lnSpc>
            </a:pPr>
            <a:r>
              <a:rPr lang="en-US" sz="3291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Neural Eng</a:t>
            </a:r>
            <a:r>
              <a:rPr lang="en-US" sz="3291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ine</a:t>
            </a:r>
            <a:r>
              <a:rPr lang="en-US" sz="3291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: </a:t>
            </a:r>
            <a:r>
              <a:rPr lang="en-US" sz="3291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TensorFlow / Keras</a:t>
            </a:r>
          </a:p>
          <a:p>
            <a:pPr algn="l">
              <a:lnSpc>
                <a:spcPts val="4575"/>
              </a:lnSpc>
            </a:pPr>
            <a:r>
              <a:rPr lang="en-US" sz="3291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(</a:t>
            </a:r>
            <a:r>
              <a:rPr lang="en-US" sz="3291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Math &amp; Sampling:</a:t>
            </a:r>
            <a:r>
              <a:rPr lang="en-US" sz="3291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 NumPy</a:t>
            </a:r>
          </a:p>
          <a:p>
            <a:pPr algn="l">
              <a:lnSpc>
                <a:spcPts val="4575"/>
              </a:lnSpc>
            </a:pPr>
            <a:r>
              <a:rPr lang="en-US" sz="3291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Phonetics:</a:t>
            </a:r>
            <a:r>
              <a:rPr lang="en-US" sz="3291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 'Pronouncing' Library</a:t>
            </a:r>
          </a:p>
          <a:p>
            <a:pPr algn="l">
              <a:lnSpc>
                <a:spcPts val="4575"/>
              </a:lnSpc>
            </a:pPr>
            <a:r>
              <a:rPr lang="en-US" sz="3291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(Text Cleaning: Regex (Re)</a:t>
            </a:r>
          </a:p>
          <a:p>
            <a:pPr algn="l">
              <a:lnSpc>
                <a:spcPts val="4575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0131950" y="8626183"/>
            <a:ext cx="4552667" cy="455266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43198" y="4355480"/>
            <a:ext cx="1999031" cy="199903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564217"/>
            <a:ext cx="13495335" cy="928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8"/>
              </a:lnSpc>
            </a:pPr>
            <a:r>
              <a:rPr lang="en-US" sz="6102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Implementation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139425"/>
            <a:ext cx="7425993" cy="687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Neural Synthesis (_predict):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 Character-level Bi-LSTM inference.</a:t>
            </a:r>
          </a:p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Creative Contro</a:t>
            </a: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 (temperature):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 Balancing randomn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ess 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vs. coh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e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re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n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c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e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.</a:t>
            </a:r>
          </a:p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Hybrid Injection (_ge</a:t>
            </a: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nerat</a:t>
            </a: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e_line)</a:t>
            </a: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: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 70% Neural + 30% Phonetic Rhyming.</a:t>
            </a:r>
          </a:p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Styl</a:t>
            </a: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istic Modeling (train): 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2nd-order Markov relative frequency.</a:t>
            </a:r>
          </a:p>
          <a:p>
            <a:pPr algn="l">
              <a:lnSpc>
                <a:spcPts val="4170"/>
              </a:lnSpc>
            </a:pP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</a:t>
            </a:r>
            <a:r>
              <a:rPr lang="en-US" sz="300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utomated Editor (_clean_line):</a:t>
            </a:r>
            <a:r>
              <a:rPr lang="en-US" sz="30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 Heuristic syntactic refinement.</a:t>
            </a:r>
          </a:p>
          <a:p>
            <a:pPr algn="l">
              <a:lnSpc>
                <a:spcPts val="417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70728" y="8766474"/>
            <a:ext cx="488572" cy="488572"/>
          </a:xfrm>
          <a:custGeom>
            <a:avLst/>
            <a:gdLst/>
            <a:ahLst/>
            <a:cxnLst/>
            <a:rect r="r" b="b" t="t" l="l"/>
            <a:pathLst>
              <a:path h="488572" w="488572">
                <a:moveTo>
                  <a:pt x="0" y="0"/>
                </a:moveTo>
                <a:lnTo>
                  <a:pt x="488572" y="0"/>
                </a:lnTo>
                <a:lnTo>
                  <a:pt x="488572" y="488572"/>
                </a:lnTo>
                <a:lnTo>
                  <a:pt x="0" y="488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493183"/>
            <a:ext cx="11230832" cy="133141"/>
            <a:chOff x="0" y="0"/>
            <a:chExt cx="7803415" cy="92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3415" cy="92509"/>
            </a:xfrm>
            <a:custGeom>
              <a:avLst/>
              <a:gdLst/>
              <a:ahLst/>
              <a:cxnLst/>
              <a:rect r="r" b="b" t="t" l="l"/>
              <a:pathLst>
                <a:path h="92509" w="7803415">
                  <a:moveTo>
                    <a:pt x="7600215" y="0"/>
                  </a:moveTo>
                  <a:cubicBezTo>
                    <a:pt x="7712439" y="0"/>
                    <a:pt x="7803415" y="20709"/>
                    <a:pt x="7803415" y="46255"/>
                  </a:cubicBezTo>
                  <a:cubicBezTo>
                    <a:pt x="7803415" y="71800"/>
                    <a:pt x="7712439" y="92509"/>
                    <a:pt x="7600215" y="92509"/>
                  </a:cubicBezTo>
                  <a:lnTo>
                    <a:pt x="203200" y="92509"/>
                  </a:lnTo>
                  <a:cubicBezTo>
                    <a:pt x="90976" y="92509"/>
                    <a:pt x="0" y="71800"/>
                    <a:pt x="0" y="46255"/>
                  </a:cubicBezTo>
                  <a:cubicBezTo>
                    <a:pt x="0" y="20709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7803415" cy="178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288646" y="-1440665"/>
            <a:ext cx="4552667" cy="45526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043198" y="4355480"/>
            <a:ext cx="1999031" cy="19990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55BD3">
                    <a:alpha val="100000"/>
                  </a:srgbClr>
                </a:gs>
                <a:gs pos="100000">
                  <a:srgbClr val="4C3DE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564217"/>
            <a:ext cx="13495335" cy="928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8"/>
              </a:lnSpc>
            </a:pPr>
            <a:r>
              <a:rPr lang="en-US" sz="6102">
                <a:gradFill>
                  <a:gsLst>
                    <a:gs pos="0">
                      <a:srgbClr val="955BD3">
                        <a:alpha val="100000"/>
                      </a:srgbClr>
                    </a:gs>
                    <a:gs pos="100000">
                      <a:srgbClr val="4C3DE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Experiments &amp; Results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11499"/>
            <a:ext cx="14800322" cy="8475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1"/>
              </a:lnSpc>
            </a:pPr>
            <a:r>
              <a:rPr lang="en-US" sz="2835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Comparative Performance:</a:t>
            </a:r>
          </a:p>
          <a:p>
            <a:pPr algn="l" marL="612216" indent="-306108" lvl="1">
              <a:lnSpc>
                <a:spcPts val="3941"/>
              </a:lnSpc>
              <a:buFont typeface="Arial"/>
              <a:buChar char="•"/>
            </a:pP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Markov Model: Highest scores in Sty</a:t>
            </a: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listic Mimicry (capturing the specific vocabulary and ton</a:t>
            </a: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e of the corpu</a:t>
            </a: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s).</a:t>
            </a:r>
          </a:p>
          <a:p>
            <a:pPr algn="l" marL="612216" indent="-306108" lvl="1">
              <a:lnSpc>
                <a:spcPts val="3941"/>
              </a:lnSpc>
              <a:buFont typeface="Arial"/>
              <a:buChar char="•"/>
            </a:pP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CRPO Model: Sup</a:t>
            </a: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e</a:t>
            </a: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rior Sema</a:t>
            </a: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nti</a:t>
            </a: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c Fl</a:t>
            </a: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exi</a:t>
            </a: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bility; effectively guided by s</a:t>
            </a: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eed words through Bi-LSTM att</a:t>
            </a: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ention.</a:t>
            </a:r>
          </a:p>
          <a:p>
            <a:pPr algn="l">
              <a:lnSpc>
                <a:spcPts val="3941"/>
              </a:lnSpc>
            </a:pPr>
            <a:r>
              <a:rPr lang="en-US" sz="2835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Key Metrics</a:t>
            </a:r>
            <a:r>
              <a:rPr lang="en-US" sz="2835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:</a:t>
            </a:r>
          </a:p>
          <a:p>
            <a:pPr algn="l" marL="612216" indent="-306108" lvl="1">
              <a:lnSpc>
                <a:spcPts val="3941"/>
              </a:lnSpc>
              <a:buFont typeface="Arial"/>
              <a:buChar char="•"/>
            </a:pP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Rhyme Accuracy: ~90% success rate achieved via Phonetic Injection (Hybrid approach).</a:t>
            </a:r>
          </a:p>
          <a:p>
            <a:pPr algn="l" marL="612216" indent="-306108" lvl="1">
              <a:lnSpc>
                <a:spcPts val="3941"/>
              </a:lnSpc>
              <a:buFont typeface="Arial"/>
              <a:buChar char="•"/>
            </a:pP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Efficiency: Average poem generation time &lt; 2.5 seconds.</a:t>
            </a:r>
          </a:p>
          <a:p>
            <a:pPr algn="l" marL="612216" indent="-306108" lvl="1">
              <a:lnSpc>
                <a:spcPts val="3941"/>
              </a:lnSpc>
              <a:buFont typeface="Arial"/>
              <a:buChar char="•"/>
            </a:pP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Syntactic Fluency: Heur</a:t>
            </a: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istic cleaning reduced "broken line endings" by 85%.</a:t>
            </a:r>
          </a:p>
          <a:p>
            <a:pPr algn="l">
              <a:lnSpc>
                <a:spcPts val="3941"/>
              </a:lnSpc>
            </a:pPr>
            <a:r>
              <a:rPr lang="en-US" sz="2835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User Interaction Success:</a:t>
            </a:r>
          </a:p>
          <a:p>
            <a:pPr algn="l" marL="612216" indent="-306108" lvl="1">
              <a:lnSpc>
                <a:spcPts val="3941"/>
              </a:lnSpc>
              <a:buFont typeface="Arial"/>
              <a:buChar char="•"/>
            </a:pP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Successful integration of Stochastic control (Temperature) allowed for diverse output variations without retraining.</a:t>
            </a:r>
          </a:p>
          <a:p>
            <a:pPr algn="l" marL="612216" indent="-306108" lvl="1">
              <a:lnSpc>
                <a:spcPts val="3941"/>
              </a:lnSpc>
              <a:buFont typeface="Arial"/>
              <a:buChar char="•"/>
            </a:pPr>
            <a:r>
              <a:rPr lang="en-US" sz="2835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AABA/AABB schemes were consistently maintained across multiple test runs.</a:t>
            </a:r>
          </a:p>
          <a:p>
            <a:pPr algn="l">
              <a:lnSpc>
                <a:spcPts val="3941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70728" y="8766474"/>
            <a:ext cx="488572" cy="488572"/>
          </a:xfrm>
          <a:custGeom>
            <a:avLst/>
            <a:gdLst/>
            <a:ahLst/>
            <a:cxnLst/>
            <a:rect r="r" b="b" t="t" l="l"/>
            <a:pathLst>
              <a:path h="488572" w="488572">
                <a:moveTo>
                  <a:pt x="0" y="0"/>
                </a:moveTo>
                <a:lnTo>
                  <a:pt x="488572" y="0"/>
                </a:lnTo>
                <a:lnTo>
                  <a:pt x="488572" y="488572"/>
                </a:lnTo>
                <a:lnTo>
                  <a:pt x="0" y="488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2664393" y="3616091"/>
            <a:ext cx="3950302" cy="8665783"/>
            <a:chOff x="0" y="0"/>
            <a:chExt cx="612005" cy="1342557"/>
          </a:xfrm>
        </p:grpSpPr>
        <p:sp>
          <p:nvSpPr>
            <p:cNvPr name="Freeform 4" id="4"/>
            <p:cNvSpPr/>
            <p:nvPr/>
          </p:nvSpPr>
          <p:spPr>
            <a:xfrm flipH="false" flipV="false" rot="5400000">
              <a:off x="-365276" y="365276"/>
              <a:ext cx="1342557" cy="612005"/>
            </a:xfrm>
            <a:custGeom>
              <a:avLst/>
              <a:gdLst/>
              <a:ahLst/>
              <a:cxnLst/>
              <a:rect r="r" b="b" t="t" l="l"/>
              <a:pathLst>
                <a:path h="612005" w="1342557">
                  <a:moveTo>
                    <a:pt x="0" y="566929"/>
                  </a:moveTo>
                  <a:lnTo>
                    <a:pt x="0" y="45076"/>
                  </a:lnTo>
                  <a:cubicBezTo>
                    <a:pt x="0" y="20181"/>
                    <a:pt x="20182" y="0"/>
                    <a:pt x="45076" y="0"/>
                  </a:cubicBezTo>
                  <a:lnTo>
                    <a:pt x="1297481" y="0"/>
                  </a:lnTo>
                  <a:cubicBezTo>
                    <a:pt x="1322376" y="0"/>
                    <a:pt x="1342557" y="20181"/>
                    <a:pt x="1342557" y="45076"/>
                  </a:cubicBezTo>
                  <a:lnTo>
                    <a:pt x="1342557" y="566929"/>
                  </a:lnTo>
                  <a:cubicBezTo>
                    <a:pt x="1342557" y="591824"/>
                    <a:pt x="1322376" y="612005"/>
                    <a:pt x="1297481" y="612005"/>
                  </a:cubicBezTo>
                  <a:lnTo>
                    <a:pt x="45076" y="612005"/>
                  </a:lnTo>
                  <a:cubicBezTo>
                    <a:pt x="20182" y="612005"/>
                    <a:pt x="0" y="591824"/>
                    <a:pt x="0" y="566929"/>
                  </a:cubicBezTo>
                  <a:close/>
                </a:path>
              </a:pathLst>
            </a:custGeom>
            <a:blipFill>
              <a:blip r:embed="rId4"/>
              <a:stretch>
                <a:fillRect l="-7918" t="-15949" r="-2863" b="-297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5400000">
            <a:off x="11501740" y="3616091"/>
            <a:ext cx="3950302" cy="8665783"/>
            <a:chOff x="0" y="0"/>
            <a:chExt cx="612005" cy="1342557"/>
          </a:xfrm>
        </p:grpSpPr>
        <p:sp>
          <p:nvSpPr>
            <p:cNvPr name="Freeform 6" id="6"/>
            <p:cNvSpPr/>
            <p:nvPr/>
          </p:nvSpPr>
          <p:spPr>
            <a:xfrm flipH="false" flipV="false" rot="5400000">
              <a:off x="-365276" y="365276"/>
              <a:ext cx="1342557" cy="612005"/>
            </a:xfrm>
            <a:custGeom>
              <a:avLst/>
              <a:gdLst/>
              <a:ahLst/>
              <a:cxnLst/>
              <a:rect r="r" b="b" t="t" l="l"/>
              <a:pathLst>
                <a:path h="612005" w="1342557">
                  <a:moveTo>
                    <a:pt x="0" y="566929"/>
                  </a:moveTo>
                  <a:lnTo>
                    <a:pt x="0" y="45076"/>
                  </a:lnTo>
                  <a:cubicBezTo>
                    <a:pt x="0" y="20181"/>
                    <a:pt x="20182" y="0"/>
                    <a:pt x="45076" y="0"/>
                  </a:cubicBezTo>
                  <a:lnTo>
                    <a:pt x="1297481" y="0"/>
                  </a:lnTo>
                  <a:cubicBezTo>
                    <a:pt x="1322376" y="0"/>
                    <a:pt x="1342557" y="20181"/>
                    <a:pt x="1342557" y="45076"/>
                  </a:cubicBezTo>
                  <a:lnTo>
                    <a:pt x="1342557" y="566929"/>
                  </a:lnTo>
                  <a:cubicBezTo>
                    <a:pt x="1342557" y="591824"/>
                    <a:pt x="1322376" y="612005"/>
                    <a:pt x="1297481" y="612005"/>
                  </a:cubicBezTo>
                  <a:lnTo>
                    <a:pt x="45076" y="612005"/>
                  </a:lnTo>
                  <a:cubicBezTo>
                    <a:pt x="20182" y="612005"/>
                    <a:pt x="0" y="591824"/>
                    <a:pt x="0" y="566929"/>
                  </a:cubicBezTo>
                  <a:close/>
                </a:path>
              </a:pathLst>
            </a:custGeom>
            <a:blipFill>
              <a:blip r:embed="rId5"/>
              <a:stretch>
                <a:fillRect l="0" t="-19132" r="0" b="-1913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5400000">
            <a:off x="2664393" y="-1967298"/>
            <a:ext cx="3950302" cy="8665783"/>
            <a:chOff x="0" y="0"/>
            <a:chExt cx="612005" cy="1342557"/>
          </a:xfrm>
        </p:grpSpPr>
        <p:sp>
          <p:nvSpPr>
            <p:cNvPr name="Freeform 8" id="8"/>
            <p:cNvSpPr/>
            <p:nvPr/>
          </p:nvSpPr>
          <p:spPr>
            <a:xfrm flipH="false" flipV="false" rot="5400000">
              <a:off x="-365276" y="365276"/>
              <a:ext cx="1342557" cy="612005"/>
            </a:xfrm>
            <a:custGeom>
              <a:avLst/>
              <a:gdLst/>
              <a:ahLst/>
              <a:cxnLst/>
              <a:rect r="r" b="b" t="t" l="l"/>
              <a:pathLst>
                <a:path h="612005" w="1342557">
                  <a:moveTo>
                    <a:pt x="0" y="566929"/>
                  </a:moveTo>
                  <a:lnTo>
                    <a:pt x="0" y="45076"/>
                  </a:lnTo>
                  <a:cubicBezTo>
                    <a:pt x="0" y="20181"/>
                    <a:pt x="20182" y="0"/>
                    <a:pt x="45076" y="0"/>
                  </a:cubicBezTo>
                  <a:lnTo>
                    <a:pt x="1297481" y="0"/>
                  </a:lnTo>
                  <a:cubicBezTo>
                    <a:pt x="1322376" y="0"/>
                    <a:pt x="1342557" y="20181"/>
                    <a:pt x="1342557" y="45076"/>
                  </a:cubicBezTo>
                  <a:lnTo>
                    <a:pt x="1342557" y="566929"/>
                  </a:lnTo>
                  <a:cubicBezTo>
                    <a:pt x="1342557" y="591824"/>
                    <a:pt x="1322376" y="612005"/>
                    <a:pt x="1297481" y="612005"/>
                  </a:cubicBezTo>
                  <a:lnTo>
                    <a:pt x="45076" y="612005"/>
                  </a:lnTo>
                  <a:cubicBezTo>
                    <a:pt x="20182" y="612005"/>
                    <a:pt x="0" y="591824"/>
                    <a:pt x="0" y="566929"/>
                  </a:cubicBezTo>
                  <a:close/>
                </a:path>
              </a:pathLst>
            </a:custGeom>
            <a:blipFill>
              <a:blip r:embed="rId6"/>
              <a:stretch>
                <a:fillRect l="0" t="-10470" r="0" b="-1047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-5400000">
            <a:off x="11501740" y="-1967298"/>
            <a:ext cx="3950302" cy="8665783"/>
            <a:chOff x="0" y="0"/>
            <a:chExt cx="612005" cy="1342557"/>
          </a:xfrm>
        </p:grpSpPr>
        <p:sp>
          <p:nvSpPr>
            <p:cNvPr name="Freeform 10" id="10"/>
            <p:cNvSpPr/>
            <p:nvPr/>
          </p:nvSpPr>
          <p:spPr>
            <a:xfrm flipH="false" flipV="false" rot="5400000">
              <a:off x="-365276" y="365276"/>
              <a:ext cx="1342557" cy="612005"/>
            </a:xfrm>
            <a:custGeom>
              <a:avLst/>
              <a:gdLst/>
              <a:ahLst/>
              <a:cxnLst/>
              <a:rect r="r" b="b" t="t" l="l"/>
              <a:pathLst>
                <a:path h="612005" w="1342557">
                  <a:moveTo>
                    <a:pt x="0" y="566929"/>
                  </a:moveTo>
                  <a:lnTo>
                    <a:pt x="0" y="45076"/>
                  </a:lnTo>
                  <a:cubicBezTo>
                    <a:pt x="0" y="20181"/>
                    <a:pt x="20182" y="0"/>
                    <a:pt x="45076" y="0"/>
                  </a:cubicBezTo>
                  <a:lnTo>
                    <a:pt x="1297481" y="0"/>
                  </a:lnTo>
                  <a:cubicBezTo>
                    <a:pt x="1322376" y="0"/>
                    <a:pt x="1342557" y="20181"/>
                    <a:pt x="1342557" y="45076"/>
                  </a:cubicBezTo>
                  <a:lnTo>
                    <a:pt x="1342557" y="566929"/>
                  </a:lnTo>
                  <a:cubicBezTo>
                    <a:pt x="1342557" y="591824"/>
                    <a:pt x="1322376" y="612005"/>
                    <a:pt x="1297481" y="612005"/>
                  </a:cubicBezTo>
                  <a:lnTo>
                    <a:pt x="45076" y="612005"/>
                  </a:lnTo>
                  <a:cubicBezTo>
                    <a:pt x="20182" y="612005"/>
                    <a:pt x="0" y="591824"/>
                    <a:pt x="0" y="566929"/>
                  </a:cubicBezTo>
                  <a:close/>
                </a:path>
              </a:pathLst>
            </a:custGeom>
            <a:blipFill>
              <a:blip r:embed="rId7"/>
              <a:stretch>
                <a:fillRect l="-12239" t="-18521" r="-15243" b="-1536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25883" y="4680744"/>
            <a:ext cx="7427322" cy="77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b="true" sz="3922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Before filtering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63231" y="4666956"/>
            <a:ext cx="7427322" cy="77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b="true" sz="3922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After filtering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7776" y="-579094"/>
            <a:ext cx="19647294" cy="11402097"/>
          </a:xfrm>
          <a:custGeom>
            <a:avLst/>
            <a:gdLst/>
            <a:ahLst/>
            <a:cxnLst/>
            <a:rect r="r" b="b" t="t" l="l"/>
            <a:pathLst>
              <a:path h="11402097" w="19647294">
                <a:moveTo>
                  <a:pt x="0" y="0"/>
                </a:moveTo>
                <a:lnTo>
                  <a:pt x="19647294" y="0"/>
                </a:lnTo>
                <a:lnTo>
                  <a:pt x="19647294" y="11402097"/>
                </a:lnTo>
                <a:lnTo>
                  <a:pt x="0" y="11402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939" r="0" b="-2637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236907"/>
            <a:ext cx="19659223" cy="11634633"/>
            <a:chOff x="0" y="0"/>
            <a:chExt cx="5177738" cy="30642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77738" cy="3064265"/>
            </a:xfrm>
            <a:custGeom>
              <a:avLst/>
              <a:gdLst/>
              <a:ahLst/>
              <a:cxnLst/>
              <a:rect r="r" b="b" t="t" l="l"/>
              <a:pathLst>
                <a:path h="3064265" w="5177738">
                  <a:moveTo>
                    <a:pt x="20084" y="0"/>
                  </a:moveTo>
                  <a:lnTo>
                    <a:pt x="5157654" y="0"/>
                  </a:lnTo>
                  <a:cubicBezTo>
                    <a:pt x="5168746" y="0"/>
                    <a:pt x="5177738" y="8992"/>
                    <a:pt x="5177738" y="20084"/>
                  </a:cubicBezTo>
                  <a:lnTo>
                    <a:pt x="5177738" y="3044181"/>
                  </a:lnTo>
                  <a:cubicBezTo>
                    <a:pt x="5177738" y="3055274"/>
                    <a:pt x="5168746" y="3064265"/>
                    <a:pt x="5157654" y="3064265"/>
                  </a:cubicBezTo>
                  <a:lnTo>
                    <a:pt x="20084" y="3064265"/>
                  </a:lnTo>
                  <a:cubicBezTo>
                    <a:pt x="8992" y="3064265"/>
                    <a:pt x="0" y="3055274"/>
                    <a:pt x="0" y="3044181"/>
                  </a:cubicBezTo>
                  <a:lnTo>
                    <a:pt x="0" y="20084"/>
                  </a:lnTo>
                  <a:cubicBezTo>
                    <a:pt x="0" y="8992"/>
                    <a:pt x="8992" y="0"/>
                    <a:pt x="200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0F70">
                    <a:alpha val="45000"/>
                  </a:srgbClr>
                </a:gs>
                <a:gs pos="100000">
                  <a:srgbClr val="251C7D">
                    <a:alpha val="45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5177738" cy="3149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12515" y="1813854"/>
            <a:ext cx="11574701" cy="161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78"/>
              </a:lnSpc>
            </a:pPr>
            <a:r>
              <a:rPr lang="en-US" sz="10603">
                <a:gradFill>
                  <a:gsLst>
                    <a:gs pos="0">
                      <a:srgbClr val="FFC43F">
                        <a:alpha val="100000"/>
                      </a:srgbClr>
                    </a:gs>
                    <a:gs pos="100000">
                      <a:srgbClr val="F4EBC4">
                        <a:alpha val="100000"/>
                      </a:srgbClr>
                    </a:gs>
                  </a:gsLst>
                  <a:lin ang="0"/>
                </a:gradFill>
                <a:latin typeface="Heading Now 91-98"/>
                <a:ea typeface="Heading Now 91-98"/>
                <a:cs typeface="Heading Now 91-98"/>
                <a:sym typeface="Heading Now 91-98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DAHJ27RPyQA</dc:identifier>
  <dcterms:modified xsi:type="dcterms:W3CDTF">2011-08-01T06:04:30Z</dcterms:modified>
  <cp:revision>1</cp:revision>
  <dc:title>Poetry Generation:</dc:title>
</cp:coreProperties>
</file>