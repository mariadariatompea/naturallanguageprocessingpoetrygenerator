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comments/comment4.xml" ContentType="application/vnd.openxmlformats-officedocument.presentationml.comments+xml"/>
  <Override PartName="/ppt/notesSlides/notesSlide4.xml" ContentType="application/vnd.openxmlformats-officedocument.presentationml.notesSlide+xml"/>
  <Override PartName="/ppt/comments/comment5.xml" ContentType="application/vnd.openxmlformats-officedocument.presentationml.comments+xml"/>
  <Override PartName="/ppt/notesSlides/notesSlide5.xml" ContentType="application/vnd.openxmlformats-officedocument.presentationml.notesSlide+xml"/>
  <Override PartName="/ppt/comments/comment6.xml" ContentType="application/vnd.openxmlformats-officedocument.presentationml.comments+xml"/>
  <Override PartName="/ppt/notesSlides/notesSlide6.xml" ContentType="application/vnd.openxmlformats-officedocument.presentationml.notesSlide+xml"/>
  <Override PartName="/ppt/comments/comment7.xml" ContentType="application/vnd.openxmlformats-officedocument.presentationml.comments+xml"/>
  <Override PartName="/ppt/notesSlides/notesSlide7.xml" ContentType="application/vnd.openxmlformats-officedocument.presentationml.notesSlide+xml"/>
  <Override PartName="/ppt/comments/comment8.xml" ContentType="application/vnd.openxmlformats-officedocument.presentationml.comments+xml"/>
  <Override PartName="/ppt/notesSlides/notesSlide8.xml" ContentType="application/vnd.openxmlformats-officedocument.presentationml.notesSlide+xml"/>
  <Override PartName="/ppt/comments/comment9.xml" ContentType="application/vnd.openxmlformats-officedocument.presentationml.comments+xml"/>
  <Override PartName="/ppt/notesSlides/notesSlide9.xml" ContentType="application/vnd.openxmlformats-officedocument.presentationml.notesSlide+xml"/>
  <Override PartName="/ppt/comments/comment10.xml" ContentType="application/vnd.openxmlformats-officedocument.presentationml.comments+xml"/>
  <Override PartName="/ppt/notesSlides/notesSlide10.xml" ContentType="application/vnd.openxmlformats-officedocument.presentationml.notesSlide+xml"/>
  <Override PartName="/ppt/comments/comment11.xml" ContentType="application/vnd.openxmlformats-officedocument.presentationml.comments+xml"/>
  <Override PartName="/ppt/notesSlides/notesSlide11.xml" ContentType="application/vnd.openxmlformats-officedocument.presentationml.notesSlide+xml"/>
  <Override PartName="/ppt/comments/comment12.xml" ContentType="application/vnd.openxmlformats-officedocument.presentationml.comments+xml"/>
  <Override PartName="/ppt/notesSlides/notesSlide12.xml" ContentType="application/vnd.openxmlformats-officedocument.presentationml.notesSlide+xml"/>
  <Override PartName="/ppt/comments/comment13.xml" ContentType="application/vnd.openxmlformats-officedocument.presentationml.comments+xml"/>
  <Override PartName="/ppt/comments/comment14.xml" ContentType="application/vnd.openxmlformats-officedocument.presentationml.comments+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1"/>
  </p:notesMasterIdLst>
  <p:handoutMasterIdLst>
    <p:handoutMasterId r:id="rId22"/>
  </p:handoutMasterIdLst>
  <p:sldIdLst>
    <p:sldId id="312" r:id="rId5"/>
    <p:sldId id="304" r:id="rId6"/>
    <p:sldId id="307" r:id="rId7"/>
    <p:sldId id="325" r:id="rId8"/>
    <p:sldId id="281" r:id="rId9"/>
    <p:sldId id="282" r:id="rId10"/>
    <p:sldId id="314" r:id="rId11"/>
    <p:sldId id="315" r:id="rId12"/>
    <p:sldId id="317" r:id="rId13"/>
    <p:sldId id="318" r:id="rId14"/>
    <p:sldId id="319" r:id="rId15"/>
    <p:sldId id="321" r:id="rId16"/>
    <p:sldId id="322" r:id="rId17"/>
    <p:sldId id="323" r:id="rId18"/>
    <p:sldId id="324" r:id="rId19"/>
    <p:sldId id="297" r:id="rId20"/>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ria Tompea" initials="MT" lastIdx="16" clrIdx="0">
    <p:extLst>
      <p:ext uri="{19B8F6BF-5375-455C-9EA6-DF929625EA0E}">
        <p15:presenceInfo xmlns:p15="http://schemas.microsoft.com/office/powerpoint/2012/main" userId="c9c47ccdb33c65b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388" autoAdjust="0"/>
  </p:normalViewPr>
  <p:slideViewPr>
    <p:cSldViewPr snapToGrid="0" snapToObjects="1">
      <p:cViewPr varScale="1">
        <p:scale>
          <a:sx n="76" d="100"/>
          <a:sy n="76" d="100"/>
        </p:scale>
        <p:origin x="206" y="6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5-03T15:03:06.299" idx="2">
    <p:pos x="106" y="106"/>
    <p:text>Today I am presenting our app Symphony of Words, a Poetry Generation System designed with two models. Markov and CRPO</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5-03T15:04:13.803" idx="3">
    <p:pos x="10" y="10"/>
    <p:text>Here are the contents of our project, we will start with what models we picked,how the supposed application works ,Data Usage and some expected results</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5-03T15:04:58.722" idx="4">
    <p:pos x="10" y="10"/>
    <p:text>Here we have the interface of the application. This would be considered the first demo. The core idea states that we try to gennerate coherent poems that not only follow a rhyme but also have stylistic parameters.</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5-03T15:06:07.470" idx="5">
    <p:pos x="10" y="10"/>
    <p:text>Here is the demo of the other two functionalities. The first one is you give a corpus input so you can check immidiately how a different training base influences the generation, here in the first picture you can pick words that the gennerator is going to use as guiding theme. And the last one you write poetry and it recommends you some words to help you create your own poem.</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5-03T15:07:36.466" idx="6">
    <p:pos x="10" y="10"/>
    <p:text>All of this has to be done following a couple of rules. Our poems have to find a middle ground between syntax of a language, which means , following some basic rules about the grammar, semantic, the poetry follows a specific theme for example romance based on the given words or corpus. Aestethic , the poem has to rhyme and have stilistic attributes and of course creativity. We dont only import sentences from our corpus, but innovate our poems, they need to feel new and "right".</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6-05-03T15:09:28.883" idx="7">
    <p:pos x="10" y="10"/>
    <p:text>So here we focusd on a linguistic foundation which means we gathered information for trianing from a vast corpus , it has algorithmic innovation as we can see the differences between the two models in efficiency and accuracy. In the end when it comes to the CRPO we have a refinement mechanism so our poems are more aestetic</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6-05-03T15:10:48.371" idx="8">
    <p:pos x="10" y="10"/>
    <p:text>Here you can see the main idea of our programm. You choose exactly what you want to you and on what model you want to go , you have a more statistic related model, Markov, and a more creative path the CRPO, and then we compare the two results manually.</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6-05-03T15:11:50.409" idx="9">
    <p:pos x="10" y="10"/>
    <p:text>When it comes to the trianing corpus, we used gutenberg and we have around 10 000 lines where we get our trianing material. We have a genre filtering. For now it is a very simple mechanism in main where we just choose the contraints so the program follows specific themes. We would like in the future to make it possible so when you are giving it a word, it detects from waht type of poetry the word is without us manually inputing this.</p:text>
    <p:extLst>
      <p:ext uri="{C676402C-5697-4E1C-873F-D02D1690AC5C}">
        <p15:threadingInfo xmlns:p15="http://schemas.microsoft.com/office/powerpoint/2012/main" timeZoneBias="-18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6-05-03T15:13:26.094" idx="10">
    <p:pos x="10" y="10"/>
    <p:text>When it comes to the corpus most data is from romantic poems and we can see which words were used the most.</p:text>
    <p:extLst>
      <p:ext uri="{C676402C-5697-4E1C-873F-D02D1690AC5C}">
        <p15:threadingInfo xmlns:p15="http://schemas.microsoft.com/office/powerpoint/2012/main" timeZoneBias="-18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6-05-03T15:13:55.174" idx="11">
    <p:pos x="10" y="10"/>
    <p:text>First model Markov chain comes with a couple of modifications, we indeed worked on some grammar and punctuation rules, for the sentences to start with big letters, when we start creating new sentences. But the core idea is that this is a statistical model,which means it records what words usually come after our input as they are expected more often. [EXPLAIN THE DRAWING]</p:text>
    <p:extLst>
      <p:ext uri="{C676402C-5697-4E1C-873F-D02D1690AC5C}">
        <p15:threadingInfo xmlns:p15="http://schemas.microsoft.com/office/powerpoint/2012/main" timeZoneBias="-180"/>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26-05-03T15:15:35.430" idx="12">
    <p:pos x="10" y="10"/>
    <p:text>We would have two implementations available Markov with matrixes and 2nd degree ngrams and the graph one which would be a huge improvement to the memmory of our model as it uses either 3rd degree ngrams or 4th. This idea is stated in the table too.</p:text>
    <p:extLst>
      <p:ext uri="{C676402C-5697-4E1C-873F-D02D1690AC5C}">
        <p15:threadingInfo xmlns:p15="http://schemas.microsoft.com/office/powerpoint/2012/main" timeZoneBias="-180"/>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1" dt="2026-05-03T15:16:36.346" idx="13">
    <p:pos x="10" y="10"/>
    <p:text>When it comes to the second model, we have a couple of improvements, first of all words are not randomly generated anymore, if a word sounds too boring its replaced as it has a specific aestetic criteria and it has IQ analysis which evaluates the poem and improves it making rhyming and rhythm easier to execute.</p:text>
    <p:extLst>
      <p:ext uri="{C676402C-5697-4E1C-873F-D02D1690AC5C}">
        <p15:threadingInfo xmlns:p15="http://schemas.microsoft.com/office/powerpoint/2012/main" timeZoneBias="-180"/>
      </p:ext>
    </p:extLst>
  </p:cm>
</p:cmLst>
</file>

<file path=ppt/comments/comment13.xml><?xml version="1.0" encoding="utf-8"?>
<p:cmLst xmlns:a="http://schemas.openxmlformats.org/drawingml/2006/main" xmlns:r="http://schemas.openxmlformats.org/officeDocument/2006/relationships" xmlns:p="http://schemas.openxmlformats.org/presentationml/2006/main">
  <p:cm authorId="1" dt="2026-05-03T15:17:53.165" idx="14">
    <p:pos x="10" y="10"/>
    <p:text>To progress when it comes to rhymes we have a special mechanism implemented for the Markov model. It write a line first from left to right and then due to lack of memmory we only count the last word we find a rhyme for it and write the paired lines from right to left. This way even if Markovs model has smaller memmory we are able to at least achomplish simple rhymes such as AABB.</p:text>
    <p:extLst>
      <p:ext uri="{C676402C-5697-4E1C-873F-D02D1690AC5C}">
        <p15:threadingInfo xmlns:p15="http://schemas.microsoft.com/office/powerpoint/2012/main" timeZoneBias="-180"/>
      </p:ext>
    </p:extLst>
  </p:cm>
</p:cmLst>
</file>

<file path=ppt/comments/comment14.xml><?xml version="1.0" encoding="utf-8"?>
<p:cmLst xmlns:a="http://schemas.openxmlformats.org/drawingml/2006/main" xmlns:r="http://schemas.openxmlformats.org/officeDocument/2006/relationships" xmlns:p="http://schemas.openxmlformats.org/presentationml/2006/main">
  <p:cm authorId="1" dt="2026-05-03T15:19:18.834" idx="15">
    <p:pos x="10" y="10"/>
    <p:text>We are using spacy to transform our input seed. Word Net finds Thematic Substitution,Finding Synonyms,Grammar Safety,Semantic Depth</p:text>
    <p:extLst>
      <p:ext uri="{C676402C-5697-4E1C-873F-D02D1690AC5C}">
        <p15:threadingInfo xmlns:p15="http://schemas.microsoft.com/office/powerpoint/2012/main" timeZoneBias="-1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comments" Target="../comments/comment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comments" Target="../comments/comment4.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comments" Target="../comments/comment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comments" Target="../comments/comment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comments" Target="../comments/commen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comments" Target="../comments/comment8.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comments" Target="../comments/comment9.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comments" Target="../comments/comment10.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comments" Target="../comments/commen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comments" Target="../comments/comment12.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comments" Target="../comments/comment13.xml"/></Relationships>
</file>

<file path=ppt/slides/_rels/slide14.xml.rels><?xml version="1.0" encoding="UTF-8" standalone="yes"?>
<Relationships xmlns="http://schemas.openxmlformats.org/package/2006/relationships"><Relationship Id="rId3" Type="http://schemas.openxmlformats.org/officeDocument/2006/relationships/comments" Target="../comments/comment14.xml"/><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Symphony of Words</a:t>
            </a:r>
            <a:br>
              <a:rPr lang="en-US" dirty="0"/>
            </a:br>
            <a:endParaRPr lang="en-US" dirty="0"/>
          </a:p>
        </p:txBody>
      </p:sp>
      <p:sp>
        <p:nvSpPr>
          <p:cNvPr id="3" name="TextBox 2">
            <a:extLst>
              <a:ext uri="{FF2B5EF4-FFF2-40B4-BE49-F238E27FC236}">
                <a16:creationId xmlns:a16="http://schemas.microsoft.com/office/drawing/2014/main" id="{B7B43A66-C487-5FA8-547D-47533325A8F5}"/>
              </a:ext>
            </a:extLst>
          </p:cNvPr>
          <p:cNvSpPr txBox="1"/>
          <p:nvPr/>
        </p:nvSpPr>
        <p:spPr>
          <a:xfrm>
            <a:off x="4076184" y="2725837"/>
            <a:ext cx="4039632" cy="923330"/>
          </a:xfrm>
          <a:prstGeom prst="rect">
            <a:avLst/>
          </a:prstGeom>
          <a:noFill/>
        </p:spPr>
        <p:txBody>
          <a:bodyPr wrap="none" rtlCol="0">
            <a:spAutoFit/>
          </a:bodyPr>
          <a:lstStyle/>
          <a:p>
            <a:r>
              <a:rPr lang="en-US" dirty="0"/>
              <a:t>Autonomous Poetry Generation System</a:t>
            </a:r>
          </a:p>
          <a:p>
            <a:r>
              <a:rPr lang="en-US" dirty="0"/>
              <a:t>		  2</a:t>
            </a:r>
            <a:r>
              <a:rPr lang="en-US" baseline="30000" dirty="0"/>
              <a:t>nd</a:t>
            </a:r>
            <a:r>
              <a:rPr lang="en-US" dirty="0"/>
              <a:t> presentation</a:t>
            </a:r>
          </a:p>
          <a:p>
            <a:r>
              <a:rPr lang="en-US" b="1" dirty="0"/>
              <a:t>               Maria-Daria Tompea</a:t>
            </a:r>
            <a:endParaRPr lang="en-US"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fontScale="92500" lnSpcReduction="20000"/>
          </a:bodyPr>
          <a:lstStyle/>
          <a:p>
            <a:r>
              <a:rPr lang="en-US" dirty="0"/>
              <a:t>01 </a:t>
            </a:r>
            <a:r>
              <a:rPr lang="en-US" b="1" dirty="0"/>
              <a:t>Introduction and Research Challenge</a:t>
            </a:r>
          </a:p>
          <a:p>
            <a:r>
              <a:rPr lang="en-US" dirty="0"/>
              <a:t>02 </a:t>
            </a:r>
            <a:r>
              <a:rPr lang="en-US" b="1" dirty="0"/>
              <a:t>Dual-Engine Methodology and Architecture</a:t>
            </a:r>
          </a:p>
          <a:p>
            <a:r>
              <a:rPr lang="en-US" dirty="0"/>
              <a:t>03 </a:t>
            </a:r>
            <a:r>
              <a:rPr lang="en-US" b="1" dirty="0"/>
              <a:t>Core Generation Engines</a:t>
            </a:r>
          </a:p>
          <a:p>
            <a:r>
              <a:rPr lang="en-US" dirty="0"/>
              <a:t>04 </a:t>
            </a:r>
            <a:r>
              <a:rPr lang="en-US" b="1" dirty="0"/>
              <a:t>Bidirectional and Advanced Generation Strategies</a:t>
            </a:r>
          </a:p>
          <a:p>
            <a:r>
              <a:rPr lang="en-US" dirty="0"/>
              <a:t>05 </a:t>
            </a:r>
            <a:r>
              <a:rPr lang="en-US" b="1" dirty="0"/>
              <a:t>System Architecture and Implementation</a:t>
            </a:r>
          </a:p>
          <a:p>
            <a:r>
              <a:rPr lang="en-US" dirty="0"/>
              <a:t>06 </a:t>
            </a:r>
            <a:r>
              <a:rPr lang="en-US" b="1" dirty="0"/>
              <a:t>Expected Results, Benchmarks, and Conclusion</a:t>
            </a:r>
          </a:p>
          <a:p>
            <a:endParaRPr lang="en-US" b="1" dirty="0"/>
          </a:p>
          <a:p>
            <a:endParaRPr lang="en-US" b="1" dirty="0"/>
          </a:p>
          <a:p>
            <a:endParaRPr lang="en-US" b="1" dirty="0"/>
          </a:p>
          <a:p>
            <a:endParaRPr lang="en-US" b="1" dirty="0"/>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
        <p:nvSpPr>
          <p:cNvPr id="5" name="TextBox 4">
            <a:extLst>
              <a:ext uri="{FF2B5EF4-FFF2-40B4-BE49-F238E27FC236}">
                <a16:creationId xmlns:a16="http://schemas.microsoft.com/office/drawing/2014/main" id="{1F7C4D24-8C0B-0CA1-9A5B-397CC1C36332}"/>
              </a:ext>
            </a:extLst>
          </p:cNvPr>
          <p:cNvSpPr txBox="1"/>
          <p:nvPr/>
        </p:nvSpPr>
        <p:spPr>
          <a:xfrm>
            <a:off x="914400" y="2465308"/>
            <a:ext cx="3374642" cy="369332"/>
          </a:xfrm>
          <a:prstGeom prst="rect">
            <a:avLst/>
          </a:prstGeom>
          <a:noFill/>
        </p:spPr>
        <p:txBody>
          <a:bodyPr wrap="none" rtlCol="0">
            <a:spAutoFit/>
          </a:bodyPr>
          <a:lstStyle/>
          <a:p>
            <a:r>
              <a:rPr lang="en-US" dirty="0">
                <a:solidFill>
                  <a:schemeClr val="tx2"/>
                </a:solidFill>
              </a:rPr>
              <a:t>The contents of this presentation</a:t>
            </a:r>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5149782" y="1059448"/>
            <a:ext cx="5723586" cy="4739104"/>
          </a:xfrm>
        </p:spPr>
        <p:txBody>
          <a:bodyPr/>
          <a:lstStyle/>
          <a:p>
            <a:r>
              <a:rPr lang="en-US" dirty="0"/>
              <a:t>CORE IDEA</a:t>
            </a:r>
          </a:p>
        </p:txBody>
      </p:sp>
      <p:sp>
        <p:nvSpPr>
          <p:cNvPr id="3" name="TextBox 2">
            <a:extLst>
              <a:ext uri="{FF2B5EF4-FFF2-40B4-BE49-F238E27FC236}">
                <a16:creationId xmlns:a16="http://schemas.microsoft.com/office/drawing/2014/main" id="{6F4F1846-A811-B2F9-778E-8ABFD3343CE9}"/>
              </a:ext>
            </a:extLst>
          </p:cNvPr>
          <p:cNvSpPr txBox="1"/>
          <p:nvPr/>
        </p:nvSpPr>
        <p:spPr>
          <a:xfrm>
            <a:off x="5241321" y="4051201"/>
            <a:ext cx="6184706" cy="2308324"/>
          </a:xfrm>
          <a:prstGeom prst="rect">
            <a:avLst/>
          </a:prstGeom>
          <a:noFill/>
        </p:spPr>
        <p:txBody>
          <a:bodyPr wrap="none" rtlCol="0">
            <a:spAutoFit/>
          </a:bodyPr>
          <a:lstStyle/>
          <a:p>
            <a:r>
              <a:rPr lang="en-US" dirty="0">
                <a:solidFill>
                  <a:schemeClr val="tx2"/>
                </a:solidFill>
              </a:rPr>
              <a:t>Symphony of Words is an advanced autonomous poetry </a:t>
            </a:r>
          </a:p>
          <a:p>
            <a:r>
              <a:rPr lang="en-US" dirty="0">
                <a:solidFill>
                  <a:schemeClr val="tx2"/>
                </a:solidFill>
              </a:rPr>
              <a:t>generation system.</a:t>
            </a:r>
          </a:p>
          <a:p>
            <a:r>
              <a:rPr lang="en-US" dirty="0">
                <a:solidFill>
                  <a:schemeClr val="tx2"/>
                </a:solidFill>
              </a:rPr>
              <a:t>The project addresses the intersection of artificial intelligence </a:t>
            </a:r>
          </a:p>
          <a:p>
            <a:r>
              <a:rPr lang="en-US" dirty="0">
                <a:solidFill>
                  <a:schemeClr val="tx2"/>
                </a:solidFill>
              </a:rPr>
              <a:t>and creative writing by designing a dual-engine methodology</a:t>
            </a:r>
          </a:p>
          <a:p>
            <a:r>
              <a:rPr lang="en-US" dirty="0">
                <a:solidFill>
                  <a:schemeClr val="tx2"/>
                </a:solidFill>
              </a:rPr>
              <a:t>capable of generating coherent, semantically meaningful </a:t>
            </a:r>
          </a:p>
          <a:p>
            <a:r>
              <a:rPr lang="en-US" dirty="0">
                <a:solidFill>
                  <a:schemeClr val="tx2"/>
                </a:solidFill>
              </a:rPr>
              <a:t>poetic compositions across multiple languages and stylistic </a:t>
            </a:r>
          </a:p>
          <a:p>
            <a:r>
              <a:rPr lang="en-US" dirty="0">
                <a:solidFill>
                  <a:schemeClr val="tx2"/>
                </a:solidFill>
              </a:rPr>
              <a:t>parameters.</a:t>
            </a:r>
          </a:p>
          <a:p>
            <a:endParaRPr lang="en-US" dirty="0">
              <a:solidFill>
                <a:schemeClr val="tx2"/>
              </a:solidFill>
            </a:endParaRPr>
          </a:p>
        </p:txBody>
      </p:sp>
      <p:pic>
        <p:nvPicPr>
          <p:cNvPr id="12" name="Picture 11">
            <a:extLst>
              <a:ext uri="{FF2B5EF4-FFF2-40B4-BE49-F238E27FC236}">
                <a16:creationId xmlns:a16="http://schemas.microsoft.com/office/drawing/2014/main" id="{D4945B8B-CD91-75D1-906E-B39CC3BA4528}"/>
              </a:ext>
            </a:extLst>
          </p:cNvPr>
          <p:cNvPicPr>
            <a:picLocks noChangeAspect="1"/>
          </p:cNvPicPr>
          <p:nvPr/>
        </p:nvPicPr>
        <p:blipFill>
          <a:blip r:embed="rId3"/>
          <a:stretch>
            <a:fillRect/>
          </a:stretch>
        </p:blipFill>
        <p:spPr>
          <a:xfrm>
            <a:off x="5729664" y="552612"/>
            <a:ext cx="5143704" cy="2395160"/>
          </a:xfrm>
          <a:prstGeom prst="rect">
            <a:avLst/>
          </a:prstGeom>
        </p:spPr>
      </p:pic>
      <p:pic>
        <p:nvPicPr>
          <p:cNvPr id="18" name="Picture 17">
            <a:extLst>
              <a:ext uri="{FF2B5EF4-FFF2-40B4-BE49-F238E27FC236}">
                <a16:creationId xmlns:a16="http://schemas.microsoft.com/office/drawing/2014/main" id="{0D74D741-E2E2-C01C-EAC5-FE69EA265456}"/>
              </a:ext>
            </a:extLst>
          </p:cNvPr>
          <p:cNvPicPr>
            <a:picLocks noChangeAspect="1"/>
          </p:cNvPicPr>
          <p:nvPr/>
        </p:nvPicPr>
        <p:blipFill>
          <a:blip r:embed="rId4"/>
          <a:stretch>
            <a:fillRect/>
          </a:stretch>
        </p:blipFill>
        <p:spPr>
          <a:xfrm>
            <a:off x="240944" y="562708"/>
            <a:ext cx="4715875" cy="5397057"/>
          </a:xfrm>
          <a:prstGeom prst="rect">
            <a:avLst/>
          </a:prstGeom>
        </p:spPr>
      </p:pic>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AF380-993E-6A7D-2BCF-51788BB77C27}"/>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53CE7662-DFC3-F827-173E-A26BCBC53FF8}"/>
              </a:ext>
            </a:extLst>
          </p:cNvPr>
          <p:cNvSpPr>
            <a:spLocks noGrp="1"/>
          </p:cNvSpPr>
          <p:nvPr>
            <p:ph type="pic" sz="quarter" idx="11"/>
          </p:nvPr>
        </p:nvSpPr>
        <p:spPr/>
      </p:sp>
      <p:pic>
        <p:nvPicPr>
          <p:cNvPr id="5" name="Picture 4">
            <a:extLst>
              <a:ext uri="{FF2B5EF4-FFF2-40B4-BE49-F238E27FC236}">
                <a16:creationId xmlns:a16="http://schemas.microsoft.com/office/drawing/2014/main" id="{E033194C-414E-C8E1-7D93-17BFA28E44D9}"/>
              </a:ext>
            </a:extLst>
          </p:cNvPr>
          <p:cNvPicPr>
            <a:picLocks noChangeAspect="1"/>
          </p:cNvPicPr>
          <p:nvPr/>
        </p:nvPicPr>
        <p:blipFill>
          <a:blip r:embed="rId2"/>
          <a:stretch>
            <a:fillRect/>
          </a:stretch>
        </p:blipFill>
        <p:spPr>
          <a:xfrm>
            <a:off x="5478901" y="1591738"/>
            <a:ext cx="6170666" cy="3674524"/>
          </a:xfrm>
          <a:prstGeom prst="rect">
            <a:avLst/>
          </a:prstGeom>
        </p:spPr>
      </p:pic>
      <p:pic>
        <p:nvPicPr>
          <p:cNvPr id="7" name="Picture 6">
            <a:extLst>
              <a:ext uri="{FF2B5EF4-FFF2-40B4-BE49-F238E27FC236}">
                <a16:creationId xmlns:a16="http://schemas.microsoft.com/office/drawing/2014/main" id="{25A3EE2C-7836-B1D9-D07C-7E4DC6509204}"/>
              </a:ext>
            </a:extLst>
          </p:cNvPr>
          <p:cNvPicPr>
            <a:picLocks noChangeAspect="1"/>
          </p:cNvPicPr>
          <p:nvPr/>
        </p:nvPicPr>
        <p:blipFill>
          <a:blip r:embed="rId3"/>
          <a:stretch>
            <a:fillRect/>
          </a:stretch>
        </p:blipFill>
        <p:spPr>
          <a:xfrm>
            <a:off x="110490" y="1314138"/>
            <a:ext cx="5010404" cy="4486589"/>
          </a:xfrm>
          <a:prstGeom prst="rect">
            <a:avLst/>
          </a:prstGeom>
        </p:spPr>
      </p:pic>
    </p:spTree>
    <p:extLst>
      <p:ext uri="{BB962C8B-B14F-4D97-AF65-F5344CB8AC3E}">
        <p14:creationId xmlns:p14="http://schemas.microsoft.com/office/powerpoint/2010/main" val="3756034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14400" y="1057275"/>
            <a:ext cx="5259554" cy="2495028"/>
          </a:xfrm>
        </p:spPr>
        <p:txBody>
          <a:bodyPr/>
          <a:lstStyle/>
          <a:p>
            <a:r>
              <a:rPr lang="en-US" dirty="0"/>
              <a:t>4 rules</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400" y="3577964"/>
            <a:ext cx="5259554" cy="2233233"/>
          </a:xfrm>
        </p:spPr>
        <p:txBody>
          <a:bodyPr/>
          <a:lstStyle/>
          <a:p>
            <a:r>
              <a:rPr lang="en-US" dirty="0"/>
              <a:t>Find a middle ground of all</a:t>
            </a:r>
          </a:p>
          <a:p>
            <a:r>
              <a:rPr lang="en-US" dirty="0"/>
              <a:t>the four aspects</a:t>
            </a:r>
          </a:p>
        </p:txBody>
      </p:sp>
      <p:pic>
        <p:nvPicPr>
          <p:cNvPr id="10" name="Picture 9">
            <a:extLst>
              <a:ext uri="{FF2B5EF4-FFF2-40B4-BE49-F238E27FC236}">
                <a16:creationId xmlns:a16="http://schemas.microsoft.com/office/drawing/2014/main" id="{DD2B01DF-C187-E3AC-2029-86ED070E7C77}"/>
              </a:ext>
            </a:extLst>
          </p:cNvPr>
          <p:cNvPicPr>
            <a:picLocks noChangeAspect="1"/>
          </p:cNvPicPr>
          <p:nvPr/>
        </p:nvPicPr>
        <p:blipFill>
          <a:blip r:embed="rId3"/>
          <a:stretch>
            <a:fillRect/>
          </a:stretch>
        </p:blipFill>
        <p:spPr>
          <a:xfrm>
            <a:off x="5017579" y="2247274"/>
            <a:ext cx="6477736" cy="3122951"/>
          </a:xfrm>
          <a:prstGeom prst="rect">
            <a:avLst/>
          </a:prstGeom>
        </p:spPr>
      </p:pic>
      <p:cxnSp>
        <p:nvCxnSpPr>
          <p:cNvPr id="12" name="Connector: Curved 11">
            <a:extLst>
              <a:ext uri="{FF2B5EF4-FFF2-40B4-BE49-F238E27FC236}">
                <a16:creationId xmlns:a16="http://schemas.microsoft.com/office/drawing/2014/main" id="{4D6F330E-82F3-25D2-B4EA-E2D254091F27}"/>
              </a:ext>
            </a:extLst>
          </p:cNvPr>
          <p:cNvCxnSpPr>
            <a:cxnSpLocks/>
          </p:cNvCxnSpPr>
          <p:nvPr/>
        </p:nvCxnSpPr>
        <p:spPr>
          <a:xfrm>
            <a:off x="8098971" y="1577591"/>
            <a:ext cx="1523085" cy="1315995"/>
          </a:xfrm>
          <a:prstGeom prst="curvedConnector3">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F76DF57E-6CA3-3A4B-4CBF-3601629DD237}"/>
              </a:ext>
            </a:extLst>
          </p:cNvPr>
          <p:cNvSpPr txBox="1"/>
          <p:nvPr/>
        </p:nvSpPr>
        <p:spPr>
          <a:xfrm>
            <a:off x="6440994" y="1449671"/>
            <a:ext cx="2914022" cy="253916"/>
          </a:xfrm>
          <a:prstGeom prst="rect">
            <a:avLst/>
          </a:prstGeom>
          <a:noFill/>
        </p:spPr>
        <p:txBody>
          <a:bodyPr wrap="square" rtlCol="0">
            <a:spAutoFit/>
          </a:bodyPr>
          <a:lstStyle/>
          <a:p>
            <a:r>
              <a:rPr lang="en-US" sz="1050" dirty="0">
                <a:solidFill>
                  <a:schemeClr val="tx2"/>
                </a:solidFill>
              </a:rPr>
              <a:t>must follow grammar rules</a:t>
            </a:r>
          </a:p>
        </p:txBody>
      </p:sp>
      <p:cxnSp>
        <p:nvCxnSpPr>
          <p:cNvPr id="18" name="Connector: Curved 17">
            <a:extLst>
              <a:ext uri="{FF2B5EF4-FFF2-40B4-BE49-F238E27FC236}">
                <a16:creationId xmlns:a16="http://schemas.microsoft.com/office/drawing/2014/main" id="{B6EAB080-9033-D4E6-94E7-0B282CDC8A55}"/>
              </a:ext>
            </a:extLst>
          </p:cNvPr>
          <p:cNvCxnSpPr>
            <a:cxnSpLocks/>
          </p:cNvCxnSpPr>
          <p:nvPr/>
        </p:nvCxnSpPr>
        <p:spPr>
          <a:xfrm rot="5400000" flipH="1" flipV="1">
            <a:off x="8852598" y="5024176"/>
            <a:ext cx="1085222" cy="924448"/>
          </a:xfrm>
          <a:prstGeom prst="curvedConnector3">
            <a:avLst>
              <a:gd name="adj1" fmla="val 50000"/>
            </a:avLst>
          </a:prstGeom>
          <a:ln>
            <a:tailEnd type="triangle"/>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206C7AE8-56D6-E282-044A-EECE43BF45BA}"/>
              </a:ext>
            </a:extLst>
          </p:cNvPr>
          <p:cNvSpPr txBox="1"/>
          <p:nvPr/>
        </p:nvSpPr>
        <p:spPr>
          <a:xfrm>
            <a:off x="7028296" y="5883767"/>
            <a:ext cx="1904689" cy="261610"/>
          </a:xfrm>
          <a:prstGeom prst="rect">
            <a:avLst/>
          </a:prstGeom>
          <a:noFill/>
        </p:spPr>
        <p:txBody>
          <a:bodyPr wrap="none" rtlCol="0">
            <a:spAutoFit/>
          </a:bodyPr>
          <a:lstStyle/>
          <a:p>
            <a:r>
              <a:rPr lang="en-US" sz="1100" dirty="0">
                <a:solidFill>
                  <a:schemeClr val="tx2"/>
                </a:solidFill>
              </a:rPr>
              <a:t>should follow a specific topic</a:t>
            </a:r>
          </a:p>
        </p:txBody>
      </p:sp>
      <p:sp>
        <p:nvSpPr>
          <p:cNvPr id="25" name="TextBox 24">
            <a:extLst>
              <a:ext uri="{FF2B5EF4-FFF2-40B4-BE49-F238E27FC236}">
                <a16:creationId xmlns:a16="http://schemas.microsoft.com/office/drawing/2014/main" id="{69AA16FE-D533-466F-B4B5-21CEB26C49FB}"/>
              </a:ext>
            </a:extLst>
          </p:cNvPr>
          <p:cNvSpPr txBox="1"/>
          <p:nvPr/>
        </p:nvSpPr>
        <p:spPr>
          <a:xfrm>
            <a:off x="862994" y="4386803"/>
            <a:ext cx="3796232" cy="1384995"/>
          </a:xfrm>
          <a:prstGeom prst="rect">
            <a:avLst/>
          </a:prstGeom>
          <a:noFill/>
        </p:spPr>
        <p:txBody>
          <a:bodyPr wrap="none" rtlCol="0">
            <a:spAutoFit/>
          </a:bodyPr>
          <a:lstStyle/>
          <a:p>
            <a:r>
              <a:rPr lang="en-US" sz="1200" dirty="0">
                <a:solidFill>
                  <a:schemeClr val="tx2"/>
                </a:solidFill>
              </a:rPr>
              <a:t>The machine has to find a common point to satisfy </a:t>
            </a:r>
          </a:p>
          <a:p>
            <a:r>
              <a:rPr lang="en-US" sz="1200" dirty="0">
                <a:solidFill>
                  <a:schemeClr val="tx2"/>
                </a:solidFill>
              </a:rPr>
              <a:t>all the four rules:</a:t>
            </a:r>
          </a:p>
          <a:p>
            <a:r>
              <a:rPr lang="en-US" sz="1200" dirty="0">
                <a:solidFill>
                  <a:schemeClr val="tx2"/>
                </a:solidFill>
              </a:rPr>
              <a:t>-Syntax : following specific grammar rules of a language</a:t>
            </a:r>
          </a:p>
          <a:p>
            <a:r>
              <a:rPr lang="en-US" sz="1200" dirty="0">
                <a:solidFill>
                  <a:schemeClr val="tx2"/>
                </a:solidFill>
              </a:rPr>
              <a:t>-Semantic : find words related to the same topic</a:t>
            </a:r>
          </a:p>
          <a:p>
            <a:r>
              <a:rPr lang="en-US" sz="1200" dirty="0">
                <a:solidFill>
                  <a:schemeClr val="tx2"/>
                </a:solidFill>
              </a:rPr>
              <a:t>-Aesthetics : rhythm , rhyme , poetic words</a:t>
            </a:r>
          </a:p>
          <a:p>
            <a:r>
              <a:rPr lang="en-US" sz="1200" dirty="0">
                <a:solidFill>
                  <a:schemeClr val="tx2"/>
                </a:solidFill>
              </a:rPr>
              <a:t>-Creativity : should create something new</a:t>
            </a:r>
          </a:p>
          <a:p>
            <a:r>
              <a:rPr lang="en-US" sz="1200" dirty="0">
                <a:solidFill>
                  <a:schemeClr val="tx2"/>
                </a:solidFill>
              </a:rPr>
              <a:t>All while making the poem feel “right”.</a:t>
            </a:r>
          </a:p>
        </p:txBody>
      </p:sp>
    </p:spTree>
    <p:extLst>
      <p:ext uri="{BB962C8B-B14F-4D97-AF65-F5344CB8AC3E}">
        <p14:creationId xmlns:p14="http://schemas.microsoft.com/office/powerpoint/2010/main" val="2952923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dirty="0"/>
              <a:t>The four core pillars</a:t>
            </a:r>
          </a:p>
        </p:txBody>
      </p:sp>
      <p:pic>
        <p:nvPicPr>
          <p:cNvPr id="5" name="Content Placeholder 4">
            <a:extLst>
              <a:ext uri="{FF2B5EF4-FFF2-40B4-BE49-F238E27FC236}">
                <a16:creationId xmlns:a16="http://schemas.microsoft.com/office/drawing/2014/main" id="{BB97A354-D6C6-CDCD-830E-E1AFA2AD8411}"/>
              </a:ext>
            </a:extLst>
          </p:cNvPr>
          <p:cNvPicPr>
            <a:picLocks noGrp="1" noChangeAspect="1"/>
          </p:cNvPicPr>
          <p:nvPr>
            <p:ph sz="half" idx="2"/>
          </p:nvPr>
        </p:nvPicPr>
        <p:blipFill>
          <a:blip r:embed="rId3"/>
          <a:stretch>
            <a:fillRect/>
          </a:stretch>
        </p:blipFill>
        <p:spPr>
          <a:xfrm>
            <a:off x="3460565" y="2051438"/>
            <a:ext cx="7964488" cy="2037427"/>
          </a:xfrm>
          <a:prstGeom prst="rect">
            <a:avLst/>
          </a:prstGeom>
        </p:spPr>
      </p:pic>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sp>
        <p:nvSpPr>
          <p:cNvPr id="6" name="TextBox 5">
            <a:extLst>
              <a:ext uri="{FF2B5EF4-FFF2-40B4-BE49-F238E27FC236}">
                <a16:creationId xmlns:a16="http://schemas.microsoft.com/office/drawing/2014/main" id="{1F98A7F3-6F17-E331-E7A7-0E42F1366AD1}"/>
              </a:ext>
            </a:extLst>
          </p:cNvPr>
          <p:cNvSpPr txBox="1"/>
          <p:nvPr/>
        </p:nvSpPr>
        <p:spPr>
          <a:xfrm>
            <a:off x="3145134" y="4088865"/>
            <a:ext cx="8527847" cy="954107"/>
          </a:xfrm>
          <a:prstGeom prst="rect">
            <a:avLst/>
          </a:prstGeom>
          <a:noFill/>
        </p:spPr>
        <p:txBody>
          <a:bodyPr wrap="none" rtlCol="0">
            <a:spAutoFit/>
          </a:bodyPr>
          <a:lstStyle/>
          <a:p>
            <a:r>
              <a:rPr lang="en-US" sz="1400" dirty="0">
                <a:solidFill>
                  <a:schemeClr val="tx2"/>
                </a:solidFill>
              </a:rPr>
              <a:t>First, we teach the AI the rules of language by letting it study thousands of classic poems.</a:t>
            </a:r>
          </a:p>
          <a:p>
            <a:r>
              <a:rPr lang="en-US" sz="1400" dirty="0">
                <a:solidFill>
                  <a:schemeClr val="tx2"/>
                </a:solidFill>
              </a:rPr>
              <a:t>We use two different coding methods together to make the generation both very fast and logically smart.</a:t>
            </a:r>
          </a:p>
          <a:p>
            <a:r>
              <a:rPr lang="en-US" sz="1400" dirty="0">
                <a:solidFill>
                  <a:schemeClr val="tx2"/>
                </a:solidFill>
              </a:rPr>
              <a:t>The AI can write verses in both directions, which helps it plan the perfect rhyme at the end of each line.</a:t>
            </a:r>
          </a:p>
          <a:p>
            <a:r>
              <a:rPr lang="en-US" sz="1400" dirty="0">
                <a:solidFill>
                  <a:schemeClr val="tx2"/>
                </a:solidFill>
              </a:rPr>
              <a:t>We also included a "refinement" step that replaces boring, common words with more colorful and poetic ones.</a:t>
            </a:r>
          </a:p>
        </p:txBody>
      </p:sp>
    </p:spTree>
    <p:extLst>
      <p:ext uri="{BB962C8B-B14F-4D97-AF65-F5344CB8AC3E}">
        <p14:creationId xmlns:p14="http://schemas.microsoft.com/office/powerpoint/2010/main" val="685681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4"/>
            <a:ext cx="7043617" cy="2520217"/>
          </a:xfrm>
        </p:spPr>
        <p:txBody>
          <a:bodyPr/>
          <a:lstStyle/>
          <a:p>
            <a:br>
              <a:rPr lang="en-US" dirty="0"/>
            </a:br>
            <a:r>
              <a:rPr lang="en-US" dirty="0"/>
              <a:t>Methodology: Dual-Engine Approach</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3808750"/>
            <a:ext cx="7043618" cy="2233233"/>
          </a:xfrm>
        </p:spPr>
        <p:txBody>
          <a:bodyPr/>
          <a:lstStyle/>
          <a:p>
            <a:r>
              <a:rPr lang="en-US" dirty="0"/>
              <a:t>Fast, statistical coherence vs. Enhanced poetic quality</a:t>
            </a:r>
          </a:p>
          <a:p>
            <a:endParaRPr lang="en-US" dirty="0"/>
          </a:p>
          <a:p>
            <a:endParaRPr lang="en-US" dirty="0"/>
          </a:p>
        </p:txBody>
      </p:sp>
      <p:pic>
        <p:nvPicPr>
          <p:cNvPr id="6" name="Picture 5">
            <a:extLst>
              <a:ext uri="{FF2B5EF4-FFF2-40B4-BE49-F238E27FC236}">
                <a16:creationId xmlns:a16="http://schemas.microsoft.com/office/drawing/2014/main" id="{0BE5AF1D-8DDD-2336-7F71-99A8AEA62330}"/>
              </a:ext>
            </a:extLst>
          </p:cNvPr>
          <p:cNvPicPr>
            <a:picLocks noChangeAspect="1"/>
          </p:cNvPicPr>
          <p:nvPr/>
        </p:nvPicPr>
        <p:blipFill>
          <a:blip r:embed="rId3"/>
          <a:stretch>
            <a:fillRect/>
          </a:stretch>
        </p:blipFill>
        <p:spPr>
          <a:xfrm>
            <a:off x="150726" y="1537353"/>
            <a:ext cx="3837632" cy="3783294"/>
          </a:xfrm>
          <a:prstGeom prst="rect">
            <a:avLst/>
          </a:prstGeom>
        </p:spPr>
      </p:pic>
      <p:sp>
        <p:nvSpPr>
          <p:cNvPr id="7" name="TextBox 6">
            <a:extLst>
              <a:ext uri="{FF2B5EF4-FFF2-40B4-BE49-F238E27FC236}">
                <a16:creationId xmlns:a16="http://schemas.microsoft.com/office/drawing/2014/main" id="{2C7C1350-DAD9-0CE0-81E2-2F788AF8562F}"/>
              </a:ext>
            </a:extLst>
          </p:cNvPr>
          <p:cNvSpPr txBox="1"/>
          <p:nvPr/>
        </p:nvSpPr>
        <p:spPr>
          <a:xfrm>
            <a:off x="4364808" y="4230433"/>
            <a:ext cx="7517379" cy="1600438"/>
          </a:xfrm>
          <a:prstGeom prst="rect">
            <a:avLst/>
          </a:prstGeom>
          <a:noFill/>
        </p:spPr>
        <p:txBody>
          <a:bodyPr wrap="none" rtlCol="0">
            <a:spAutoFit/>
          </a:bodyPr>
          <a:lstStyle/>
          <a:p>
            <a:r>
              <a:rPr lang="en-US" sz="1400" dirty="0">
                <a:solidFill>
                  <a:schemeClr val="tx2"/>
                </a:solidFill>
              </a:rPr>
              <a:t>The process starts with a </a:t>
            </a:r>
            <a:r>
              <a:rPr lang="en-US" sz="1400" b="1" dirty="0">
                <a:solidFill>
                  <a:schemeClr val="tx2"/>
                </a:solidFill>
              </a:rPr>
              <a:t>Seed Idea</a:t>
            </a:r>
            <a:r>
              <a:rPr lang="en-US" sz="1400" dirty="0">
                <a:solidFill>
                  <a:schemeClr val="tx2"/>
                </a:solidFill>
              </a:rPr>
              <a:t>, where you type in a simple word or a starting concept.</a:t>
            </a:r>
          </a:p>
          <a:p>
            <a:r>
              <a:rPr lang="en-US" sz="1400" dirty="0">
                <a:solidFill>
                  <a:schemeClr val="tx2"/>
                </a:solidFill>
              </a:rPr>
              <a:t>Next, the system reaches a </a:t>
            </a:r>
            <a:r>
              <a:rPr lang="en-US" sz="1400" b="1" dirty="0">
                <a:solidFill>
                  <a:schemeClr val="tx2"/>
                </a:solidFill>
              </a:rPr>
              <a:t>Decision Point</a:t>
            </a:r>
            <a:r>
              <a:rPr lang="en-US" sz="1400" dirty="0">
                <a:solidFill>
                  <a:schemeClr val="tx2"/>
                </a:solidFill>
              </a:rPr>
              <a:t> to choose the best way to write your poem.</a:t>
            </a:r>
          </a:p>
          <a:p>
            <a:r>
              <a:rPr lang="en-US" sz="1400" dirty="0">
                <a:solidFill>
                  <a:schemeClr val="tx2"/>
                </a:solidFill>
              </a:rPr>
              <a:t>One way is the </a:t>
            </a:r>
            <a:r>
              <a:rPr lang="en-US" sz="1400" b="1" dirty="0">
                <a:solidFill>
                  <a:schemeClr val="tx2"/>
                </a:solidFill>
              </a:rPr>
              <a:t>Markov Path</a:t>
            </a:r>
            <a:r>
              <a:rPr lang="en-US" sz="1400" dirty="0">
                <a:solidFill>
                  <a:schemeClr val="tx2"/>
                </a:solidFill>
              </a:rPr>
              <a:t>, which uses math and probability to pick words that fit together.</a:t>
            </a:r>
          </a:p>
          <a:p>
            <a:r>
              <a:rPr lang="en-US" sz="1400" dirty="0">
                <a:solidFill>
                  <a:schemeClr val="tx2"/>
                </a:solidFill>
              </a:rPr>
              <a:t>The other way is the </a:t>
            </a:r>
            <a:r>
              <a:rPr lang="en-US" sz="1400" b="1" dirty="0">
                <a:solidFill>
                  <a:schemeClr val="tx2"/>
                </a:solidFill>
              </a:rPr>
              <a:t>Creative Path</a:t>
            </a:r>
            <a:r>
              <a:rPr lang="en-US" sz="1400" dirty="0">
                <a:solidFill>
                  <a:schemeClr val="tx2"/>
                </a:solidFill>
              </a:rPr>
              <a:t>, which is a more advanced method focused on artistic quality.</a:t>
            </a:r>
          </a:p>
          <a:p>
            <a:r>
              <a:rPr lang="en-US" sz="1400" dirty="0">
                <a:solidFill>
                  <a:schemeClr val="tx2"/>
                </a:solidFill>
              </a:rPr>
              <a:t>Both methods work hard to make sure the lines of the poem sound natural and beautiful.</a:t>
            </a:r>
          </a:p>
          <a:p>
            <a:r>
              <a:rPr lang="en-US" sz="1400" dirty="0">
                <a:solidFill>
                  <a:schemeClr val="tx2"/>
                </a:solidFill>
              </a:rPr>
              <a:t>Finally, the system delivers the </a:t>
            </a:r>
            <a:r>
              <a:rPr lang="en-US" sz="1400" b="1" dirty="0">
                <a:solidFill>
                  <a:schemeClr val="tx2"/>
                </a:solidFill>
              </a:rPr>
              <a:t>Final Poem</a:t>
            </a:r>
            <a:r>
              <a:rPr lang="en-US" sz="1400" dirty="0">
                <a:solidFill>
                  <a:schemeClr val="tx2"/>
                </a:solidFill>
              </a:rPr>
              <a:t> as the completed result of the generation.</a:t>
            </a:r>
          </a:p>
          <a:p>
            <a:endParaRPr lang="en-US" sz="1400" dirty="0">
              <a:solidFill>
                <a:schemeClr val="tx2"/>
              </a:solidFill>
            </a:endParaRPr>
          </a:p>
        </p:txBody>
      </p:sp>
    </p:spTree>
    <p:extLst>
      <p:ext uri="{BB962C8B-B14F-4D97-AF65-F5344CB8AC3E}">
        <p14:creationId xmlns:p14="http://schemas.microsoft.com/office/powerpoint/2010/main" val="113171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914399" y="834635"/>
            <a:ext cx="7796464" cy="1222385"/>
          </a:xfrm>
        </p:spPr>
        <p:txBody>
          <a:bodyPr/>
          <a:lstStyle/>
          <a:p>
            <a:r>
              <a:rPr lang="en-US" dirty="0"/>
              <a:t>Training Corpus and Dataset Construction</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8</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275382" y="5553767"/>
            <a:ext cx="3137275" cy="340816"/>
          </a:xfrm>
        </p:spPr>
        <p:txBody>
          <a:bodyPr>
            <a:normAutofit/>
          </a:bodyPr>
          <a:lstStyle/>
          <a:p>
            <a:r>
              <a:rPr lang="en-US" dirty="0"/>
              <a:t>Main.py</a:t>
            </a:r>
          </a:p>
        </p:txBody>
      </p:sp>
      <p:sp>
        <p:nvSpPr>
          <p:cNvPr id="17" name="Content Placeholder 6">
            <a:extLst>
              <a:ext uri="{FF2B5EF4-FFF2-40B4-BE49-F238E27FC236}">
                <a16:creationId xmlns:a16="http://schemas.microsoft.com/office/drawing/2014/main" id="{33680A80-5C61-DD02-1119-0565C0AD5372}"/>
              </a:ext>
            </a:extLst>
          </p:cNvPr>
          <p:cNvSpPr>
            <a:spLocks noGrp="1"/>
          </p:cNvSpPr>
          <p:nvPr>
            <p:ph sz="quarter" idx="4"/>
          </p:nvPr>
        </p:nvSpPr>
        <p:spPr>
          <a:xfrm>
            <a:off x="4782159" y="2303028"/>
            <a:ext cx="3284951" cy="3720337"/>
          </a:xfrm>
        </p:spPr>
        <p:txBody>
          <a:bodyPr>
            <a:normAutofit/>
          </a:bodyPr>
          <a:lstStyle/>
          <a:p>
            <a:endParaRPr lang="en-US" dirty="0"/>
          </a:p>
        </p:txBody>
      </p:sp>
      <p:pic>
        <p:nvPicPr>
          <p:cNvPr id="5" name="Picture 4">
            <a:extLst>
              <a:ext uri="{FF2B5EF4-FFF2-40B4-BE49-F238E27FC236}">
                <a16:creationId xmlns:a16="http://schemas.microsoft.com/office/drawing/2014/main" id="{49CDBE29-6FA0-6912-3467-2AF33F67AD5A}"/>
              </a:ext>
            </a:extLst>
          </p:cNvPr>
          <p:cNvPicPr>
            <a:picLocks noChangeAspect="1"/>
          </p:cNvPicPr>
          <p:nvPr/>
        </p:nvPicPr>
        <p:blipFill>
          <a:blip r:embed="rId3"/>
          <a:stretch>
            <a:fillRect/>
          </a:stretch>
        </p:blipFill>
        <p:spPr>
          <a:xfrm>
            <a:off x="3574959" y="2137854"/>
            <a:ext cx="8481120" cy="4050684"/>
          </a:xfrm>
          <a:prstGeom prst="rect">
            <a:avLst/>
          </a:prstGeom>
        </p:spPr>
      </p:pic>
      <p:pic>
        <p:nvPicPr>
          <p:cNvPr id="7" name="Picture 6">
            <a:extLst>
              <a:ext uri="{FF2B5EF4-FFF2-40B4-BE49-F238E27FC236}">
                <a16:creationId xmlns:a16="http://schemas.microsoft.com/office/drawing/2014/main" id="{E894018B-5AC4-C0A3-6E38-13E402B4C7AD}"/>
              </a:ext>
            </a:extLst>
          </p:cNvPr>
          <p:cNvPicPr>
            <a:picLocks noChangeAspect="1"/>
          </p:cNvPicPr>
          <p:nvPr/>
        </p:nvPicPr>
        <p:blipFill>
          <a:blip r:embed="rId4"/>
          <a:stretch>
            <a:fillRect/>
          </a:stretch>
        </p:blipFill>
        <p:spPr>
          <a:xfrm>
            <a:off x="8388442" y="1285712"/>
            <a:ext cx="3667637" cy="638264"/>
          </a:xfrm>
          <a:prstGeom prst="rect">
            <a:avLst/>
          </a:prstGeom>
        </p:spPr>
      </p:pic>
      <p:pic>
        <p:nvPicPr>
          <p:cNvPr id="9" name="Picture 8">
            <a:extLst>
              <a:ext uri="{FF2B5EF4-FFF2-40B4-BE49-F238E27FC236}">
                <a16:creationId xmlns:a16="http://schemas.microsoft.com/office/drawing/2014/main" id="{010D860E-D8F6-1F73-EFF6-5E7C3FA3EE6E}"/>
              </a:ext>
            </a:extLst>
          </p:cNvPr>
          <p:cNvPicPr>
            <a:picLocks noChangeAspect="1"/>
          </p:cNvPicPr>
          <p:nvPr/>
        </p:nvPicPr>
        <p:blipFill>
          <a:blip r:embed="rId5"/>
          <a:stretch>
            <a:fillRect/>
          </a:stretch>
        </p:blipFill>
        <p:spPr>
          <a:xfrm>
            <a:off x="359552" y="2025045"/>
            <a:ext cx="2975589" cy="2508720"/>
          </a:xfrm>
          <a:prstGeom prst="rect">
            <a:avLst/>
          </a:prstGeom>
        </p:spPr>
      </p:pic>
      <p:pic>
        <p:nvPicPr>
          <p:cNvPr id="11" name="Picture 10">
            <a:extLst>
              <a:ext uri="{FF2B5EF4-FFF2-40B4-BE49-F238E27FC236}">
                <a16:creationId xmlns:a16="http://schemas.microsoft.com/office/drawing/2014/main" id="{E96F0B0A-C09A-AA25-93B0-714156290873}"/>
              </a:ext>
            </a:extLst>
          </p:cNvPr>
          <p:cNvPicPr>
            <a:picLocks noChangeAspect="1"/>
          </p:cNvPicPr>
          <p:nvPr/>
        </p:nvPicPr>
        <p:blipFill>
          <a:blip r:embed="rId6"/>
          <a:stretch>
            <a:fillRect/>
          </a:stretch>
        </p:blipFill>
        <p:spPr>
          <a:xfrm>
            <a:off x="191214" y="4720199"/>
            <a:ext cx="3305613" cy="775916"/>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965393"/>
            <a:ext cx="7631709" cy="1091627"/>
          </a:xfrm>
        </p:spPr>
        <p:txBody>
          <a:bodyPr/>
          <a:lstStyle/>
          <a:p>
            <a:r>
              <a:rPr lang="en-US" dirty="0" err="1"/>
              <a:t>Statistics:used</a:t>
            </a:r>
            <a:r>
              <a:rPr lang="en-US" dirty="0"/>
              <a:t> data</a:t>
            </a: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914400" y="2303463"/>
            <a:ext cx="3282950" cy="4143375"/>
          </a:xfrm>
        </p:spPr>
        <p:txBody>
          <a:bodyPr>
            <a:normAutofit/>
          </a:bodyPr>
          <a:lstStyle/>
          <a:p>
            <a:endParaRPr lang="en-US" dirty="0"/>
          </a:p>
        </p:txBody>
      </p:sp>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4781550" y="2303463"/>
            <a:ext cx="3763963" cy="4143375"/>
          </a:xfrm>
        </p:spPr>
        <p:txBody>
          <a:bodyPr/>
          <a:lstStyle/>
          <a:p>
            <a:endParaRPr lang="en-US"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pic>
        <p:nvPicPr>
          <p:cNvPr id="7" name="Picture 6">
            <a:extLst>
              <a:ext uri="{FF2B5EF4-FFF2-40B4-BE49-F238E27FC236}">
                <a16:creationId xmlns:a16="http://schemas.microsoft.com/office/drawing/2014/main" id="{0ED994E4-5BBC-E547-0752-1D30910F7292}"/>
              </a:ext>
            </a:extLst>
          </p:cNvPr>
          <p:cNvPicPr>
            <a:picLocks noChangeAspect="1"/>
          </p:cNvPicPr>
          <p:nvPr/>
        </p:nvPicPr>
        <p:blipFill>
          <a:blip r:embed="rId3"/>
          <a:stretch>
            <a:fillRect/>
          </a:stretch>
        </p:blipFill>
        <p:spPr>
          <a:xfrm>
            <a:off x="1219058" y="2303463"/>
            <a:ext cx="2978292" cy="4143375"/>
          </a:xfrm>
          <a:prstGeom prst="rect">
            <a:avLst/>
          </a:prstGeom>
        </p:spPr>
      </p:pic>
      <p:pic>
        <p:nvPicPr>
          <p:cNvPr id="9" name="Picture 8">
            <a:extLst>
              <a:ext uri="{FF2B5EF4-FFF2-40B4-BE49-F238E27FC236}">
                <a16:creationId xmlns:a16="http://schemas.microsoft.com/office/drawing/2014/main" id="{BE49F10A-177F-F6B7-4550-BB9A38473AB2}"/>
              </a:ext>
            </a:extLst>
          </p:cNvPr>
          <p:cNvPicPr>
            <a:picLocks noChangeAspect="1"/>
          </p:cNvPicPr>
          <p:nvPr/>
        </p:nvPicPr>
        <p:blipFill>
          <a:blip r:embed="rId4"/>
          <a:stretch>
            <a:fillRect/>
          </a:stretch>
        </p:blipFill>
        <p:spPr>
          <a:xfrm>
            <a:off x="4730255" y="2303463"/>
            <a:ext cx="5951144" cy="2020548"/>
          </a:xfrm>
          <a:prstGeom prst="rect">
            <a:avLst/>
          </a:prstGeom>
        </p:spPr>
      </p:pic>
    </p:spTree>
    <p:extLst>
      <p:ext uri="{BB962C8B-B14F-4D97-AF65-F5344CB8AC3E}">
        <p14:creationId xmlns:p14="http://schemas.microsoft.com/office/powerpoint/2010/main" val="1941619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1057274"/>
            <a:ext cx="7843837" cy="1012782"/>
          </a:xfrm>
        </p:spPr>
        <p:txBody>
          <a:bodyPr/>
          <a:lstStyle/>
          <a:p>
            <a:r>
              <a:rPr lang="en-US" dirty="0"/>
              <a:t>MARKOV CHAIN</a:t>
            </a: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914400" y="2331791"/>
            <a:ext cx="6903076" cy="3721817"/>
          </a:xfrm>
        </p:spPr>
        <p:txBody>
          <a:bodyPr/>
          <a:lstStyle/>
          <a:p>
            <a:endParaRPr lang="en-US" dirty="0"/>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10</a:t>
            </a:fld>
            <a:endParaRPr lang="en-US" dirty="0"/>
          </a:p>
        </p:txBody>
      </p:sp>
      <p:pic>
        <p:nvPicPr>
          <p:cNvPr id="9" name="Picture 8">
            <a:extLst>
              <a:ext uri="{FF2B5EF4-FFF2-40B4-BE49-F238E27FC236}">
                <a16:creationId xmlns:a16="http://schemas.microsoft.com/office/drawing/2014/main" id="{F37F169F-D988-F4CD-1B32-4AE2032EE545}"/>
              </a:ext>
            </a:extLst>
          </p:cNvPr>
          <p:cNvPicPr>
            <a:picLocks noChangeAspect="1"/>
          </p:cNvPicPr>
          <p:nvPr/>
        </p:nvPicPr>
        <p:blipFill>
          <a:blip r:embed="rId3"/>
          <a:stretch>
            <a:fillRect/>
          </a:stretch>
        </p:blipFill>
        <p:spPr>
          <a:xfrm>
            <a:off x="807795" y="1909626"/>
            <a:ext cx="6266246" cy="2723305"/>
          </a:xfrm>
          <a:prstGeom prst="rect">
            <a:avLst/>
          </a:prstGeom>
          <a:ln>
            <a:noFill/>
          </a:ln>
          <a:effectLst>
            <a:softEdge rad="112500"/>
          </a:effectLst>
        </p:spPr>
      </p:pic>
      <p:sp>
        <p:nvSpPr>
          <p:cNvPr id="10" name="TextBox 9">
            <a:extLst>
              <a:ext uri="{FF2B5EF4-FFF2-40B4-BE49-F238E27FC236}">
                <a16:creationId xmlns:a16="http://schemas.microsoft.com/office/drawing/2014/main" id="{586853B7-778D-373A-87BC-7ED0B5DCEAA9}"/>
              </a:ext>
            </a:extLst>
          </p:cNvPr>
          <p:cNvSpPr txBox="1"/>
          <p:nvPr/>
        </p:nvSpPr>
        <p:spPr>
          <a:xfrm>
            <a:off x="909305" y="4763799"/>
            <a:ext cx="8068171" cy="1754326"/>
          </a:xfrm>
          <a:prstGeom prst="rect">
            <a:avLst/>
          </a:prstGeom>
          <a:noFill/>
        </p:spPr>
        <p:txBody>
          <a:bodyPr wrap="none" rtlCol="0">
            <a:spAutoFit/>
          </a:bodyPr>
          <a:lstStyle/>
          <a:p>
            <a:r>
              <a:rPr lang="en-US" dirty="0">
                <a:solidFill>
                  <a:schemeClr val="tx2"/>
                </a:solidFill>
              </a:rPr>
              <a:t>The Markov Chain engine operates on statistical probability distributions </a:t>
            </a:r>
          </a:p>
          <a:p>
            <a:r>
              <a:rPr lang="en-US" dirty="0">
                <a:solidFill>
                  <a:schemeClr val="tx2"/>
                </a:solidFill>
              </a:rPr>
              <a:t>derived from the training corpus. Each word token is associated with conditional </a:t>
            </a:r>
          </a:p>
          <a:p>
            <a:r>
              <a:rPr lang="en-US" dirty="0">
                <a:solidFill>
                  <a:schemeClr val="tx2"/>
                </a:solidFill>
              </a:rPr>
              <a:t>probabilities based on preceding words, enabling sequential generation that </a:t>
            </a:r>
          </a:p>
          <a:p>
            <a:r>
              <a:rPr lang="en-US" dirty="0">
                <a:solidFill>
                  <a:schemeClr val="tx2"/>
                </a:solidFill>
              </a:rPr>
              <a:t>maintains local linguistic coherence and natural language flow patterns typical </a:t>
            </a:r>
          </a:p>
          <a:p>
            <a:r>
              <a:rPr lang="en-US" dirty="0">
                <a:solidFill>
                  <a:schemeClr val="tx2"/>
                </a:solidFill>
              </a:rPr>
              <a:t>of poetic structures.</a:t>
            </a:r>
          </a:p>
          <a:p>
            <a:endParaRPr lang="en-US" dirty="0">
              <a:solidFill>
                <a:schemeClr val="tx2"/>
              </a:solidFill>
            </a:endParaRPr>
          </a:p>
        </p:txBody>
      </p:sp>
      <p:pic>
        <p:nvPicPr>
          <p:cNvPr id="16" name="Picture Placeholder 15">
            <a:extLst>
              <a:ext uri="{FF2B5EF4-FFF2-40B4-BE49-F238E27FC236}">
                <a16:creationId xmlns:a16="http://schemas.microsoft.com/office/drawing/2014/main" id="{680E12F1-66BD-295B-D96A-152C53F22C46}"/>
              </a:ext>
            </a:extLst>
          </p:cNvPr>
          <p:cNvPicPr>
            <a:picLocks noGrp="1" noChangeAspect="1"/>
          </p:cNvPicPr>
          <p:nvPr>
            <p:ph type="pic" sz="quarter" idx="14"/>
          </p:nvPr>
        </p:nvPicPr>
        <p:blipFill>
          <a:blip r:embed="rId4"/>
          <a:srcRect l="3632" r="3632"/>
          <a:stretch>
            <a:fillRect/>
          </a:stretch>
        </p:blipFill>
        <p:spPr>
          <a:prstGeom prst="rect">
            <a:avLst/>
          </a:prstGeom>
          <a:solidFill>
            <a:srgbClr val="F5CDCE"/>
          </a:solidFill>
        </p:spPr>
      </p:pic>
      <p:pic>
        <p:nvPicPr>
          <p:cNvPr id="18" name="Picture 17">
            <a:extLst>
              <a:ext uri="{FF2B5EF4-FFF2-40B4-BE49-F238E27FC236}">
                <a16:creationId xmlns:a16="http://schemas.microsoft.com/office/drawing/2014/main" id="{EB513A20-6D03-24E2-274E-D0B0A595440F}"/>
              </a:ext>
            </a:extLst>
          </p:cNvPr>
          <p:cNvPicPr>
            <a:picLocks noChangeAspect="1"/>
          </p:cNvPicPr>
          <p:nvPr/>
        </p:nvPicPr>
        <p:blipFill>
          <a:blip r:embed="rId5"/>
          <a:stretch>
            <a:fillRect/>
          </a:stretch>
        </p:blipFill>
        <p:spPr>
          <a:xfrm>
            <a:off x="5752188" y="2739037"/>
            <a:ext cx="4343785" cy="1332304"/>
          </a:xfrm>
          <a:prstGeom prst="rect">
            <a:avLst/>
          </a:prstGeom>
        </p:spPr>
      </p:pic>
    </p:spTree>
    <p:extLst>
      <p:ext uri="{BB962C8B-B14F-4D97-AF65-F5344CB8AC3E}">
        <p14:creationId xmlns:p14="http://schemas.microsoft.com/office/powerpoint/2010/main" val="4072101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550563" y="1089213"/>
            <a:ext cx="9879437" cy="980844"/>
          </a:xfrm>
        </p:spPr>
        <p:txBody>
          <a:bodyPr/>
          <a:lstStyle/>
          <a:p>
            <a:r>
              <a:rPr lang="en-US" dirty="0" err="1"/>
              <a:t>COmparison</a:t>
            </a:r>
            <a:endParaRPr lang="en-US" dirty="0"/>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11</a:t>
            </a:fld>
            <a:endParaRPr lang="en-US" dirty="0"/>
          </a:p>
        </p:txBody>
      </p:sp>
      <p:sp>
        <p:nvSpPr>
          <p:cNvPr id="7" name="Text Placeholder 6">
            <a:extLst>
              <a:ext uri="{FF2B5EF4-FFF2-40B4-BE49-F238E27FC236}">
                <a16:creationId xmlns:a16="http://schemas.microsoft.com/office/drawing/2014/main" id="{A69F6E7A-82F4-86FE-F272-01625930D1D6}"/>
              </a:ext>
            </a:extLst>
          </p:cNvPr>
          <p:cNvSpPr>
            <a:spLocks noGrp="1"/>
          </p:cNvSpPr>
          <p:nvPr>
            <p:ph type="body" sz="quarter" idx="13"/>
          </p:nvPr>
        </p:nvSpPr>
        <p:spPr>
          <a:xfrm>
            <a:off x="261257" y="2230582"/>
            <a:ext cx="4903595" cy="4290798"/>
          </a:xfrm>
        </p:spPr>
        <p:txBody>
          <a:bodyPr/>
          <a:lstStyle/>
          <a:p>
            <a:r>
              <a:rPr lang="en-US" dirty="0">
                <a:solidFill>
                  <a:schemeClr val="tx2"/>
                </a:solidFill>
              </a:rPr>
              <a:t>This comparison highlights the essential trade-off between computational speed and the overall quality of the poetry.</a:t>
            </a:r>
          </a:p>
          <a:p>
            <a:r>
              <a:rPr lang="en-US" dirty="0">
                <a:solidFill>
                  <a:schemeClr val="tx2"/>
                </a:solidFill>
              </a:rPr>
              <a:t>A 2nd degree n-gram using a matrix is extremely fast because the system only needs to perform a simple table lookup for word pairs.</a:t>
            </a:r>
          </a:p>
          <a:p>
            <a:r>
              <a:rPr lang="en-US" dirty="0">
                <a:solidFill>
                  <a:schemeClr val="tx2"/>
                </a:solidFill>
              </a:rPr>
              <a:t>However, this method has limited semantic depth because the model can only "remember" one word back, often losing the topic of the poem.</a:t>
            </a:r>
          </a:p>
          <a:p>
            <a:r>
              <a:rPr lang="en-US" dirty="0">
                <a:solidFill>
                  <a:schemeClr val="tx2"/>
                </a:solidFill>
              </a:rPr>
              <a:t>On the other hand, a 3rd or 4th degree n-gram using a node-based graph provides much higher context and artistic flow.</a:t>
            </a:r>
          </a:p>
          <a:p>
            <a:endParaRPr lang="en-US" dirty="0">
              <a:solidFill>
                <a:schemeClr val="tx2"/>
              </a:solidFill>
            </a:endParaRPr>
          </a:p>
        </p:txBody>
      </p:sp>
      <p:pic>
        <p:nvPicPr>
          <p:cNvPr id="11" name="Content Placeholder 10">
            <a:extLst>
              <a:ext uri="{FF2B5EF4-FFF2-40B4-BE49-F238E27FC236}">
                <a16:creationId xmlns:a16="http://schemas.microsoft.com/office/drawing/2014/main" id="{A0593D83-1F96-9D87-7A75-E7D6D88655D9}"/>
              </a:ext>
            </a:extLst>
          </p:cNvPr>
          <p:cNvPicPr>
            <a:picLocks noGrp="1" noChangeAspect="1"/>
          </p:cNvPicPr>
          <p:nvPr>
            <p:ph sz="half" idx="1"/>
          </p:nvPr>
        </p:nvPicPr>
        <p:blipFill>
          <a:blip r:embed="rId3"/>
          <a:stretch>
            <a:fillRect/>
          </a:stretch>
        </p:blipFill>
        <p:spPr>
          <a:xfrm>
            <a:off x="5810526" y="1089213"/>
            <a:ext cx="6120216" cy="1741401"/>
          </a:xfrm>
          <a:prstGeom prst="rect">
            <a:avLst/>
          </a:prstGeom>
        </p:spPr>
      </p:pic>
      <p:sp>
        <p:nvSpPr>
          <p:cNvPr id="12" name="TextBox 11">
            <a:extLst>
              <a:ext uri="{FF2B5EF4-FFF2-40B4-BE49-F238E27FC236}">
                <a16:creationId xmlns:a16="http://schemas.microsoft.com/office/drawing/2014/main" id="{FE00FB07-FB57-D53A-9059-C8F4228C6EEE}"/>
              </a:ext>
            </a:extLst>
          </p:cNvPr>
          <p:cNvSpPr txBox="1"/>
          <p:nvPr/>
        </p:nvSpPr>
        <p:spPr>
          <a:xfrm>
            <a:off x="5810526" y="3195376"/>
            <a:ext cx="6183039" cy="2585323"/>
          </a:xfrm>
          <a:prstGeom prst="rect">
            <a:avLst/>
          </a:prstGeom>
          <a:noFill/>
        </p:spPr>
        <p:txBody>
          <a:bodyPr wrap="none" rtlCol="0">
            <a:spAutoFit/>
          </a:bodyPr>
          <a:lstStyle/>
          <a:p>
            <a:endParaRPr lang="en-US" dirty="0">
              <a:solidFill>
                <a:schemeClr val="tx2"/>
              </a:solidFill>
            </a:endParaRPr>
          </a:p>
          <a:p>
            <a:r>
              <a:rPr lang="en-US" dirty="0">
                <a:solidFill>
                  <a:schemeClr val="tx2"/>
                </a:solidFill>
              </a:rPr>
              <a:t>While matrices become too large and inefficient at higher </a:t>
            </a:r>
          </a:p>
          <a:p>
            <a:r>
              <a:rPr lang="en-US" dirty="0">
                <a:solidFill>
                  <a:schemeClr val="tx2"/>
                </a:solidFill>
              </a:rPr>
              <a:t>degrees, graphs are better for memory because they only store </a:t>
            </a:r>
          </a:p>
          <a:p>
            <a:r>
              <a:rPr lang="en-US" dirty="0">
                <a:solidFill>
                  <a:schemeClr val="tx2"/>
                </a:solidFill>
              </a:rPr>
              <a:t>connections that actually appear in the text.</a:t>
            </a:r>
          </a:p>
          <a:p>
            <a:endParaRPr lang="en-US" dirty="0">
              <a:solidFill>
                <a:schemeClr val="tx2"/>
              </a:solidFill>
            </a:endParaRPr>
          </a:p>
          <a:p>
            <a:r>
              <a:rPr lang="en-US" dirty="0">
                <a:solidFill>
                  <a:schemeClr val="tx2"/>
                </a:solidFill>
              </a:rPr>
              <a:t>Ultimately, matrices are excellent for basic scalability, while </a:t>
            </a:r>
          </a:p>
          <a:p>
            <a:r>
              <a:rPr lang="en-US" dirty="0">
                <a:solidFill>
                  <a:schemeClr val="tx2"/>
                </a:solidFill>
              </a:rPr>
              <a:t>node-based graphs are superior for creating deep and </a:t>
            </a:r>
          </a:p>
          <a:p>
            <a:r>
              <a:rPr lang="en-US" dirty="0">
                <a:solidFill>
                  <a:schemeClr val="tx2"/>
                </a:solidFill>
              </a:rPr>
              <a:t>meaningful verses.</a:t>
            </a:r>
          </a:p>
          <a:p>
            <a:endParaRPr lang="en-US" dirty="0">
              <a:solidFill>
                <a:schemeClr val="tx2"/>
              </a:solidFill>
            </a:endParaRPr>
          </a:p>
        </p:txBody>
      </p:sp>
    </p:spTree>
    <p:extLst>
      <p:ext uri="{BB962C8B-B14F-4D97-AF65-F5344CB8AC3E}">
        <p14:creationId xmlns:p14="http://schemas.microsoft.com/office/powerpoint/2010/main" val="3969996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550564" y="1057274"/>
            <a:ext cx="9875463" cy="999746"/>
          </a:xfrm>
        </p:spPr>
        <p:txBody>
          <a:bodyPr/>
          <a:lstStyle/>
          <a:p>
            <a:r>
              <a:rPr lang="en-US" dirty="0"/>
              <a:t>CR-PO Refinement</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477828" y="2057020"/>
            <a:ext cx="5829147" cy="3961593"/>
          </a:xfrm>
        </p:spPr>
        <p:txBody>
          <a:bodyPr>
            <a:normAutofit/>
          </a:bodyPr>
          <a:lstStyle/>
          <a:p>
            <a:r>
              <a:rPr lang="en-US" sz="1400" b="1" dirty="0"/>
              <a:t> IQ Analysis: </a:t>
            </a:r>
            <a:r>
              <a:rPr lang="en-US" sz="1400" dirty="0"/>
              <a:t>Evaluates poem quality and identifies areas for improvement</a:t>
            </a:r>
          </a:p>
          <a:p>
            <a:r>
              <a:rPr lang="en-US" sz="1400" b="1" dirty="0"/>
              <a:t>Thematic Substitution: </a:t>
            </a:r>
            <a:r>
              <a:rPr lang="en-US" sz="1400" dirty="0"/>
              <a:t>Replaces low-quality words with better alternatives</a:t>
            </a:r>
          </a:p>
          <a:p>
            <a:r>
              <a:rPr lang="en-US" sz="1400" b="1" dirty="0"/>
              <a:t> Final Polishing: </a:t>
            </a:r>
            <a:r>
              <a:rPr lang="en-US" sz="1400" dirty="0"/>
              <a:t>Produces refined, high-quality output</a:t>
            </a:r>
          </a:p>
          <a:p>
            <a:endParaRPr lang="en-US" sz="1400" dirty="0"/>
          </a:p>
        </p:txBody>
      </p:sp>
      <p:sp>
        <p:nvSpPr>
          <p:cNvPr id="13" name="Content Placeholder 7">
            <a:extLst>
              <a:ext uri="{FF2B5EF4-FFF2-40B4-BE49-F238E27FC236}">
                <a16:creationId xmlns:a16="http://schemas.microsoft.com/office/drawing/2014/main" id="{0853098E-C088-D323-4BF2-987893F262F6}"/>
              </a:ext>
            </a:extLst>
          </p:cNvPr>
          <p:cNvSpPr>
            <a:spLocks noGrp="1"/>
          </p:cNvSpPr>
          <p:nvPr>
            <p:ph sz="half" idx="15"/>
          </p:nvPr>
        </p:nvSpPr>
        <p:spPr>
          <a:xfrm>
            <a:off x="7940842" y="2303028"/>
            <a:ext cx="3485184" cy="3961593"/>
          </a:xfrm>
        </p:spPr>
        <p:txBody>
          <a:bodyPr/>
          <a:lstStyle/>
          <a:p>
            <a:endParaRPr lang="en-US" dirty="0"/>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12</a:t>
            </a:fld>
            <a:endParaRPr lang="en-US" dirty="0"/>
          </a:p>
        </p:txBody>
      </p:sp>
      <p:pic>
        <p:nvPicPr>
          <p:cNvPr id="5" name="Picture 4">
            <a:extLst>
              <a:ext uri="{FF2B5EF4-FFF2-40B4-BE49-F238E27FC236}">
                <a16:creationId xmlns:a16="http://schemas.microsoft.com/office/drawing/2014/main" id="{EE410038-8A46-EF15-0452-DE8B7CCBFFFD}"/>
              </a:ext>
            </a:extLst>
          </p:cNvPr>
          <p:cNvPicPr>
            <a:picLocks noChangeAspect="1"/>
          </p:cNvPicPr>
          <p:nvPr/>
        </p:nvPicPr>
        <p:blipFill>
          <a:blip r:embed="rId3"/>
          <a:stretch>
            <a:fillRect/>
          </a:stretch>
        </p:blipFill>
        <p:spPr>
          <a:xfrm>
            <a:off x="7868105" y="2172539"/>
            <a:ext cx="3485185" cy="4222570"/>
          </a:xfrm>
          <a:prstGeom prst="rect">
            <a:avLst/>
          </a:prstGeom>
        </p:spPr>
      </p:pic>
      <p:pic>
        <p:nvPicPr>
          <p:cNvPr id="7" name="Picture 6">
            <a:extLst>
              <a:ext uri="{FF2B5EF4-FFF2-40B4-BE49-F238E27FC236}">
                <a16:creationId xmlns:a16="http://schemas.microsoft.com/office/drawing/2014/main" id="{BB061DD0-C8A6-FC4D-D2AC-0961614BB118}"/>
              </a:ext>
            </a:extLst>
          </p:cNvPr>
          <p:cNvPicPr>
            <a:picLocks noChangeAspect="1"/>
          </p:cNvPicPr>
          <p:nvPr/>
        </p:nvPicPr>
        <p:blipFill>
          <a:blip r:embed="rId4"/>
          <a:stretch>
            <a:fillRect/>
          </a:stretch>
        </p:blipFill>
        <p:spPr>
          <a:xfrm>
            <a:off x="1826265" y="3483599"/>
            <a:ext cx="5277744" cy="3121390"/>
          </a:xfrm>
          <a:prstGeom prst="rect">
            <a:avLst/>
          </a:prstGeom>
        </p:spPr>
      </p:pic>
    </p:spTree>
    <p:extLst>
      <p:ext uri="{BB962C8B-B14F-4D97-AF65-F5344CB8AC3E}">
        <p14:creationId xmlns:p14="http://schemas.microsoft.com/office/powerpoint/2010/main" val="2498021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914400" y="1057274"/>
            <a:ext cx="10511627" cy="1012785"/>
          </a:xfrm>
        </p:spPr>
        <p:txBody>
          <a:bodyPr/>
          <a:lstStyle/>
          <a:p>
            <a:r>
              <a:rPr lang="en-US" dirty="0" err="1"/>
              <a:t>A.Rhyme</a:t>
            </a:r>
            <a:endParaRPr lang="en-US" dirty="0"/>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13</a:t>
            </a:fld>
            <a:endParaRPr lang="en-US" dirty="0"/>
          </a:p>
        </p:txBody>
      </p:sp>
      <p:sp>
        <p:nvSpPr>
          <p:cNvPr id="6" name="Content Placeholder 5">
            <a:extLst>
              <a:ext uri="{FF2B5EF4-FFF2-40B4-BE49-F238E27FC236}">
                <a16:creationId xmlns:a16="http://schemas.microsoft.com/office/drawing/2014/main" id="{57AE936D-FB21-734D-7AD1-1738FB7B354C}"/>
              </a:ext>
            </a:extLst>
          </p:cNvPr>
          <p:cNvSpPr>
            <a:spLocks noGrp="1"/>
          </p:cNvSpPr>
          <p:nvPr>
            <p:ph sz="quarter" idx="4"/>
          </p:nvPr>
        </p:nvSpPr>
        <p:spPr/>
        <p:txBody>
          <a:bodyPr/>
          <a:lstStyle/>
          <a:p>
            <a:endParaRPr lang="en-US"/>
          </a:p>
        </p:txBody>
      </p:sp>
      <p:pic>
        <p:nvPicPr>
          <p:cNvPr id="8" name="Picture 7">
            <a:extLst>
              <a:ext uri="{FF2B5EF4-FFF2-40B4-BE49-F238E27FC236}">
                <a16:creationId xmlns:a16="http://schemas.microsoft.com/office/drawing/2014/main" id="{C4B2E945-23A2-207F-540F-4FEDE7C7E025}"/>
              </a:ext>
            </a:extLst>
          </p:cNvPr>
          <p:cNvPicPr>
            <a:picLocks noChangeAspect="1"/>
          </p:cNvPicPr>
          <p:nvPr/>
        </p:nvPicPr>
        <p:blipFill>
          <a:blip r:embed="rId3"/>
          <a:stretch>
            <a:fillRect/>
          </a:stretch>
        </p:blipFill>
        <p:spPr>
          <a:xfrm>
            <a:off x="1740499" y="2316067"/>
            <a:ext cx="9377774" cy="1727873"/>
          </a:xfrm>
          <a:prstGeom prst="rect">
            <a:avLst/>
          </a:prstGeom>
        </p:spPr>
      </p:pic>
    </p:spTree>
    <p:extLst>
      <p:ext uri="{BB962C8B-B14F-4D97-AF65-F5344CB8AC3E}">
        <p14:creationId xmlns:p14="http://schemas.microsoft.com/office/powerpoint/2010/main" val="1686213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E7E92-E839-16EE-E051-851BA58D32B3}"/>
              </a:ext>
            </a:extLst>
          </p:cNvPr>
          <p:cNvSpPr>
            <a:spLocks noGrp="1"/>
          </p:cNvSpPr>
          <p:nvPr>
            <p:ph type="title"/>
          </p:nvPr>
        </p:nvSpPr>
        <p:spPr>
          <a:xfrm>
            <a:off x="914400" y="1057274"/>
            <a:ext cx="4662435" cy="1012785"/>
          </a:xfrm>
        </p:spPr>
        <p:txBody>
          <a:bodyPr/>
          <a:lstStyle/>
          <a:p>
            <a:br>
              <a:rPr lang="en-US" dirty="0"/>
            </a:br>
            <a:r>
              <a:rPr lang="en-US" dirty="0"/>
              <a:t>Full Application Architecture</a:t>
            </a:r>
          </a:p>
        </p:txBody>
      </p:sp>
      <p:sp>
        <p:nvSpPr>
          <p:cNvPr id="3" name="Content Placeholder 2">
            <a:extLst>
              <a:ext uri="{FF2B5EF4-FFF2-40B4-BE49-F238E27FC236}">
                <a16:creationId xmlns:a16="http://schemas.microsoft.com/office/drawing/2014/main" id="{E5875F97-E4A7-7750-C074-B692B5268E54}"/>
              </a:ext>
            </a:extLst>
          </p:cNvPr>
          <p:cNvSpPr>
            <a:spLocks noGrp="1"/>
          </p:cNvSpPr>
          <p:nvPr>
            <p:ph sz="quarter" idx="4"/>
          </p:nvPr>
        </p:nvSpPr>
        <p:spPr>
          <a:xfrm>
            <a:off x="914401" y="2316067"/>
            <a:ext cx="4732774" cy="3948557"/>
          </a:xfrm>
        </p:spPr>
        <p:txBody>
          <a:bodyPr>
            <a:normAutofit fontScale="92500" lnSpcReduction="20000"/>
          </a:bodyPr>
          <a:lstStyle/>
          <a:p>
            <a:r>
              <a:rPr lang="en-US" dirty="0"/>
              <a:t>The architecture is a structured pipeline that begins when the user provides a seed word and selects specific generation parameters.</a:t>
            </a:r>
          </a:p>
          <a:p>
            <a:r>
              <a:rPr lang="en-US" dirty="0"/>
              <a:t>This input is handled by a linguistic preprocessing layer using </a:t>
            </a:r>
            <a:r>
              <a:rPr lang="en-US" b="1" dirty="0" err="1"/>
              <a:t>SpaCy</a:t>
            </a:r>
            <a:r>
              <a:rPr lang="en-US" dirty="0"/>
              <a:t> to analyze the grammatical context and parts of speech.</a:t>
            </a:r>
          </a:p>
          <a:p>
            <a:r>
              <a:rPr lang="en-US" dirty="0"/>
              <a:t>The core logic then passes through the </a:t>
            </a:r>
            <a:r>
              <a:rPr lang="en-US" b="1" dirty="0"/>
              <a:t>Symphony Engine</a:t>
            </a:r>
            <a:r>
              <a:rPr lang="en-US" dirty="0"/>
              <a:t>, which utilizes a hybrid approach of stochastic Markov chains and creative CR-PO refinement supported by the WordNet database.</a:t>
            </a:r>
          </a:p>
          <a:p>
            <a:r>
              <a:rPr lang="en-US" dirty="0"/>
              <a:t>Finally, the results are sent to the </a:t>
            </a:r>
            <a:r>
              <a:rPr lang="en-US" b="1" dirty="0"/>
              <a:t>Frontend Studio</a:t>
            </a:r>
            <a:r>
              <a:rPr lang="en-US" dirty="0"/>
              <a:t>, where the generated poem is displayed to the user in a clean and interactive interface.</a:t>
            </a:r>
          </a:p>
          <a:p>
            <a:endParaRPr lang="en-US" dirty="0"/>
          </a:p>
        </p:txBody>
      </p:sp>
      <p:sp>
        <p:nvSpPr>
          <p:cNvPr id="4" name="Slide Number Placeholder 3">
            <a:extLst>
              <a:ext uri="{FF2B5EF4-FFF2-40B4-BE49-F238E27FC236}">
                <a16:creationId xmlns:a16="http://schemas.microsoft.com/office/drawing/2014/main" id="{D865CDC9-A37E-1884-6A10-D43944A2663F}"/>
              </a:ext>
            </a:extLst>
          </p:cNvPr>
          <p:cNvSpPr>
            <a:spLocks noGrp="1"/>
          </p:cNvSpPr>
          <p:nvPr>
            <p:ph type="sldNum" sz="quarter" idx="10"/>
          </p:nvPr>
        </p:nvSpPr>
        <p:spPr/>
        <p:txBody>
          <a:bodyPr/>
          <a:lstStyle/>
          <a:p>
            <a:fld id="{48F63A3B-78C7-47BE-AE5E-E10140E04643}" type="slidenum">
              <a:rPr lang="en-US" smtClean="0"/>
              <a:pPr/>
              <a:t>14</a:t>
            </a:fld>
            <a:endParaRPr lang="en-US" dirty="0"/>
          </a:p>
        </p:txBody>
      </p:sp>
      <p:pic>
        <p:nvPicPr>
          <p:cNvPr id="6" name="Picture 5">
            <a:extLst>
              <a:ext uri="{FF2B5EF4-FFF2-40B4-BE49-F238E27FC236}">
                <a16:creationId xmlns:a16="http://schemas.microsoft.com/office/drawing/2014/main" id="{E42BF3A0-8ABB-3B3E-A3C8-7B43D09275E9}"/>
              </a:ext>
            </a:extLst>
          </p:cNvPr>
          <p:cNvPicPr>
            <a:picLocks noChangeAspect="1"/>
          </p:cNvPicPr>
          <p:nvPr/>
        </p:nvPicPr>
        <p:blipFill>
          <a:blip r:embed="rId2"/>
          <a:stretch>
            <a:fillRect/>
          </a:stretch>
        </p:blipFill>
        <p:spPr>
          <a:xfrm>
            <a:off x="5743208" y="271022"/>
            <a:ext cx="6011114" cy="6315956"/>
          </a:xfrm>
          <a:prstGeom prst="rect">
            <a:avLst/>
          </a:prstGeom>
        </p:spPr>
      </p:pic>
    </p:spTree>
    <p:extLst>
      <p:ext uri="{BB962C8B-B14F-4D97-AF65-F5344CB8AC3E}">
        <p14:creationId xmlns:p14="http://schemas.microsoft.com/office/powerpoint/2010/main" val="1270456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A3A47-F9F1-9C83-AD2B-5F6905161026}"/>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D7FC1D1A-E6FA-0576-B9A9-EA79EB70C58A}"/>
              </a:ext>
            </a:extLst>
          </p:cNvPr>
          <p:cNvSpPr>
            <a:spLocks noGrp="1"/>
          </p:cNvSpPr>
          <p:nvPr>
            <p:ph sz="quarter" idx="4"/>
          </p:nvPr>
        </p:nvSpPr>
        <p:spPr/>
        <p:txBody>
          <a:bodyPr/>
          <a:lstStyle/>
          <a:p>
            <a:endParaRPr lang="en-US" dirty="0"/>
          </a:p>
        </p:txBody>
      </p:sp>
      <p:sp>
        <p:nvSpPr>
          <p:cNvPr id="4" name="Slide Number Placeholder 3">
            <a:extLst>
              <a:ext uri="{FF2B5EF4-FFF2-40B4-BE49-F238E27FC236}">
                <a16:creationId xmlns:a16="http://schemas.microsoft.com/office/drawing/2014/main" id="{20F76546-E64A-5788-98EC-D380D271D7D2}"/>
              </a:ext>
            </a:extLst>
          </p:cNvPr>
          <p:cNvSpPr>
            <a:spLocks noGrp="1"/>
          </p:cNvSpPr>
          <p:nvPr>
            <p:ph type="sldNum" sz="quarter" idx="10"/>
          </p:nvPr>
        </p:nvSpPr>
        <p:spPr/>
        <p:txBody>
          <a:bodyPr/>
          <a:lstStyle/>
          <a:p>
            <a:fld id="{48F63A3B-78C7-47BE-AE5E-E10140E04643}" type="slidenum">
              <a:rPr lang="en-US" smtClean="0"/>
              <a:pPr/>
              <a:t>15</a:t>
            </a:fld>
            <a:endParaRPr lang="en-US" dirty="0"/>
          </a:p>
        </p:txBody>
      </p:sp>
      <p:pic>
        <p:nvPicPr>
          <p:cNvPr id="6" name="Picture 5">
            <a:extLst>
              <a:ext uri="{FF2B5EF4-FFF2-40B4-BE49-F238E27FC236}">
                <a16:creationId xmlns:a16="http://schemas.microsoft.com/office/drawing/2014/main" id="{A4C7D2C5-4A25-5CA1-D310-57B1E6BB4ACF}"/>
              </a:ext>
            </a:extLst>
          </p:cNvPr>
          <p:cNvPicPr>
            <a:picLocks noChangeAspect="1"/>
          </p:cNvPicPr>
          <p:nvPr/>
        </p:nvPicPr>
        <p:blipFill>
          <a:blip r:embed="rId2"/>
          <a:stretch>
            <a:fillRect/>
          </a:stretch>
        </p:blipFill>
        <p:spPr>
          <a:xfrm>
            <a:off x="4852860" y="2198645"/>
            <a:ext cx="6573167" cy="1800476"/>
          </a:xfrm>
          <a:prstGeom prst="rect">
            <a:avLst/>
          </a:prstGeom>
        </p:spPr>
      </p:pic>
      <p:sp>
        <p:nvSpPr>
          <p:cNvPr id="7" name="TextBox 6">
            <a:extLst>
              <a:ext uri="{FF2B5EF4-FFF2-40B4-BE49-F238E27FC236}">
                <a16:creationId xmlns:a16="http://schemas.microsoft.com/office/drawing/2014/main" id="{0C966346-D1FA-2807-C195-4CDB8D4008B0}"/>
              </a:ext>
            </a:extLst>
          </p:cNvPr>
          <p:cNvSpPr txBox="1"/>
          <p:nvPr/>
        </p:nvSpPr>
        <p:spPr>
          <a:xfrm>
            <a:off x="914400" y="1848897"/>
            <a:ext cx="3915174" cy="1754326"/>
          </a:xfrm>
          <a:prstGeom prst="rect">
            <a:avLst/>
          </a:prstGeom>
          <a:noFill/>
        </p:spPr>
        <p:txBody>
          <a:bodyPr wrap="none" rtlCol="0">
            <a:spAutoFit/>
          </a:bodyPr>
          <a:lstStyle/>
          <a:p>
            <a:r>
              <a:rPr lang="en-US" dirty="0"/>
              <a:t>Came the warriors from the </a:t>
            </a:r>
            <a:r>
              <a:rPr lang="en-US" b="1" dirty="0"/>
              <a:t>west</a:t>
            </a:r>
            <a:r>
              <a:rPr lang="en-US" dirty="0"/>
              <a:t>, (A) </a:t>
            </a:r>
          </a:p>
          <a:p>
            <a:r>
              <a:rPr lang="en-US" dirty="0"/>
              <a:t>Putting courage to the </a:t>
            </a:r>
            <a:r>
              <a:rPr lang="en-US" b="1" dirty="0"/>
              <a:t>test</a:t>
            </a:r>
            <a:r>
              <a:rPr lang="en-US" dirty="0"/>
              <a:t>. (A) </a:t>
            </a:r>
          </a:p>
          <a:p>
            <a:r>
              <a:rPr lang="en-US" dirty="0"/>
              <a:t>Bury now your heavy </a:t>
            </a:r>
            <a:r>
              <a:rPr lang="en-US" b="1" dirty="0"/>
              <a:t>spear</a:t>
            </a:r>
            <a:r>
              <a:rPr lang="en-US" dirty="0"/>
              <a:t>, (B) </a:t>
            </a:r>
          </a:p>
          <a:p>
            <a:r>
              <a:rPr lang="en-US" dirty="0"/>
              <a:t>For the time of peace is </a:t>
            </a:r>
            <a:r>
              <a:rPr lang="en-US" b="1" dirty="0"/>
              <a:t>near</a:t>
            </a:r>
            <a:r>
              <a:rPr lang="en-US" dirty="0"/>
              <a:t>. (B) </a:t>
            </a:r>
          </a:p>
          <a:p>
            <a:r>
              <a:rPr lang="en-US" dirty="0"/>
              <a:t>From the footprints flowed a </a:t>
            </a:r>
            <a:r>
              <a:rPr lang="en-US" b="1" dirty="0"/>
              <a:t>tide</a:t>
            </a:r>
            <a:r>
              <a:rPr lang="en-US" dirty="0"/>
              <a:t>, (C) </a:t>
            </a:r>
          </a:p>
          <a:p>
            <a:r>
              <a:rPr lang="en-US" dirty="0"/>
              <a:t>Where the ancient spirits </a:t>
            </a:r>
            <a:r>
              <a:rPr lang="en-US" b="1" dirty="0"/>
              <a:t>hide</a:t>
            </a:r>
            <a:r>
              <a:rPr lang="en-US" dirty="0"/>
              <a:t>. (C)</a:t>
            </a:r>
          </a:p>
        </p:txBody>
      </p:sp>
      <p:sp>
        <p:nvSpPr>
          <p:cNvPr id="8" name="TextBox 7">
            <a:extLst>
              <a:ext uri="{FF2B5EF4-FFF2-40B4-BE49-F238E27FC236}">
                <a16:creationId xmlns:a16="http://schemas.microsoft.com/office/drawing/2014/main" id="{4AFB33E4-4267-844B-2106-F074E06CD05F}"/>
              </a:ext>
            </a:extLst>
          </p:cNvPr>
          <p:cNvSpPr txBox="1"/>
          <p:nvPr/>
        </p:nvSpPr>
        <p:spPr>
          <a:xfrm>
            <a:off x="1004835" y="4190163"/>
            <a:ext cx="3861891" cy="1754326"/>
          </a:xfrm>
          <a:prstGeom prst="rect">
            <a:avLst/>
          </a:prstGeom>
          <a:noFill/>
        </p:spPr>
        <p:txBody>
          <a:bodyPr wrap="none" rtlCol="0">
            <a:spAutoFit/>
          </a:bodyPr>
          <a:lstStyle/>
          <a:p>
            <a:r>
              <a:rPr lang="en-US" dirty="0"/>
              <a:t>I have given you lands to </a:t>
            </a:r>
            <a:r>
              <a:rPr lang="en-US" b="1" dirty="0"/>
              <a:t>see</a:t>
            </a:r>
            <a:r>
              <a:rPr lang="en-US" dirty="0"/>
              <a:t>, (A) </a:t>
            </a:r>
          </a:p>
          <a:p>
            <a:r>
              <a:rPr lang="en-US" dirty="0"/>
              <a:t>Where the spirit wanders </a:t>
            </a:r>
            <a:r>
              <a:rPr lang="en-US" b="1" dirty="0"/>
              <a:t>free</a:t>
            </a:r>
            <a:r>
              <a:rPr lang="en-US" dirty="0"/>
              <a:t>. (A) </a:t>
            </a:r>
          </a:p>
          <a:p>
            <a:r>
              <a:rPr lang="en-US" dirty="0"/>
              <a:t>Bathe now in the rushing </a:t>
            </a:r>
            <a:r>
              <a:rPr lang="en-US" b="1" dirty="0"/>
              <a:t>stream</a:t>
            </a:r>
            <a:r>
              <a:rPr lang="en-US" dirty="0"/>
              <a:t>, (B) </a:t>
            </a:r>
          </a:p>
          <a:p>
            <a:r>
              <a:rPr lang="en-US" dirty="0"/>
              <a:t>Like the patterns of a </a:t>
            </a:r>
            <a:r>
              <a:rPr lang="en-US" b="1" dirty="0"/>
              <a:t>dream</a:t>
            </a:r>
            <a:r>
              <a:rPr lang="en-US" dirty="0"/>
              <a:t>. (B) </a:t>
            </a:r>
          </a:p>
          <a:p>
            <a:r>
              <a:rPr lang="en-US" dirty="0"/>
              <a:t>Wash the paint from every </a:t>
            </a:r>
            <a:r>
              <a:rPr lang="en-US" b="1" dirty="0"/>
              <a:t>face</a:t>
            </a:r>
            <a:r>
              <a:rPr lang="en-US" dirty="0"/>
              <a:t>, (C) </a:t>
            </a:r>
          </a:p>
          <a:p>
            <a:r>
              <a:rPr lang="en-US" dirty="0"/>
              <a:t>Of this brave and ancient </a:t>
            </a:r>
            <a:r>
              <a:rPr lang="en-US" b="1" dirty="0"/>
              <a:t>race</a:t>
            </a:r>
            <a:r>
              <a:rPr lang="en-US" dirty="0"/>
              <a:t>. (C)</a:t>
            </a:r>
          </a:p>
        </p:txBody>
      </p:sp>
    </p:spTree>
    <p:extLst>
      <p:ext uri="{BB962C8B-B14F-4D97-AF65-F5344CB8AC3E}">
        <p14:creationId xmlns:p14="http://schemas.microsoft.com/office/powerpoint/2010/main" val="614286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{D307B755-23E4-43B7-A55D-1655E06EBE57}TF8a9b5915-b8c7-461e-8cdd-693d48b5e32371f7b7e2_win32-4bf0b9a2ea37</Template>
  <TotalTime>779</TotalTime>
  <Words>861</Words>
  <Application>Microsoft Office PowerPoint</Application>
  <PresentationFormat>Widescreen</PresentationFormat>
  <Paragraphs>105</Paragraphs>
  <Slides>16</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Calibri</vt:lpstr>
      <vt:lpstr>Sabon Next LT</vt:lpstr>
      <vt:lpstr>Custom</vt:lpstr>
      <vt:lpstr>Symphony of Words </vt:lpstr>
      <vt:lpstr>agenda</vt:lpstr>
      <vt:lpstr>CORE IDEA</vt:lpstr>
      <vt:lpstr>PowerPoint Presentation</vt:lpstr>
      <vt:lpstr>4 rules</vt:lpstr>
      <vt:lpstr>The four core pillars</vt:lpstr>
      <vt:lpstr> Methodology: Dual-Engine Approach</vt:lpstr>
      <vt:lpstr>Training Corpus and Dataset Construction</vt:lpstr>
      <vt:lpstr>Statistics:used data</vt:lpstr>
      <vt:lpstr>MARKOV CHAIN</vt:lpstr>
      <vt:lpstr>COmparison</vt:lpstr>
      <vt:lpstr>CR-PO Refinement</vt:lpstr>
      <vt:lpstr>A.Rhyme</vt:lpstr>
      <vt:lpstr> Full Application Architecture</vt:lpstr>
      <vt:lpstr>RESULTS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Maria Tompea</dc:creator>
  <cp:lastModifiedBy>Maria Tompea</cp:lastModifiedBy>
  <cp:revision>2</cp:revision>
  <dcterms:created xsi:type="dcterms:W3CDTF">2026-05-03T06:48:14Z</dcterms:created>
  <dcterms:modified xsi:type="dcterms:W3CDTF">2026-05-03T19:47:33Z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